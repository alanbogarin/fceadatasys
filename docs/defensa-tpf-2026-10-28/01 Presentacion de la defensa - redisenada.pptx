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097ad7dd847d0" /><Relationship Type="http://schemas.openxmlformats.org/officeDocument/2006/relationships/extended-properties" Target="/docProps/app.xml" Id="Rb1d5e8022f614f4f" /><Relationship Type="http://schemas.openxmlformats.org/officeDocument/2006/relationships/officeDocument" Target="/ppt/presentation.xml" Id="Rf18092efff71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75be7e5a24223"/>
  </p:sldMasterIdLst>
  <p:notesMasterIdLst>
    <p:notesMasterId xmlns:r="http://schemas.openxmlformats.org/officeDocument/2006/relationships" r:id="Rd27148232ef947af"/>
  </p:notesMasterIdLst>
  <p:sldIdLst>
    <p:sldId xmlns:r="http://schemas.openxmlformats.org/officeDocument/2006/relationships" id="256" r:id="Rcd5924e32e534146"/>
    <p:sldId xmlns:r="http://schemas.openxmlformats.org/officeDocument/2006/relationships" id="257" r:id="Rff82c53329a0406d"/>
    <p:sldId xmlns:r="http://schemas.openxmlformats.org/officeDocument/2006/relationships" id="258" r:id="R9fb3c99e97c34da0"/>
    <p:sldId xmlns:r="http://schemas.openxmlformats.org/officeDocument/2006/relationships" id="259" r:id="Rf2dc74b6190c4fdc"/>
    <p:sldId xmlns:r="http://schemas.openxmlformats.org/officeDocument/2006/relationships" id="260" r:id="R8f0232bbef274240"/>
    <p:sldId xmlns:r="http://schemas.openxmlformats.org/officeDocument/2006/relationships" id="261" r:id="R6b58a07899de47fb"/>
    <p:sldId xmlns:r="http://schemas.openxmlformats.org/officeDocument/2006/relationships" id="262" r:id="Ra1b73d2dafe74ed9"/>
    <p:sldId xmlns:r="http://schemas.openxmlformats.org/officeDocument/2006/relationships" id="263" r:id="Rd738712b28734f56"/>
    <p:sldId xmlns:r="http://schemas.openxmlformats.org/officeDocument/2006/relationships" id="264" r:id="R04167c399fbc42bd"/>
    <p:sldId xmlns:r="http://schemas.openxmlformats.org/officeDocument/2006/relationships" id="265" r:id="Rdff684ed43c04cdc"/>
    <p:sldId xmlns:r="http://schemas.openxmlformats.org/officeDocument/2006/relationships" id="266" r:id="Rc1e17c9801674e43"/>
    <p:sldId xmlns:r="http://schemas.openxmlformats.org/officeDocument/2006/relationships" id="267" r:id="R80dffdf0df06453e"/>
    <p:sldId xmlns:r="http://schemas.openxmlformats.org/officeDocument/2006/relationships" id="268" r:id="R817107e0109244cc"/>
    <p:sldId xmlns:r="http://schemas.openxmlformats.org/officeDocument/2006/relationships" id="269" r:id="R1e7cacf3a50d4851"/>
    <p:sldId xmlns:r="http://schemas.openxmlformats.org/officeDocument/2006/relationships" id="270" r:id="Re0e11360179c4dec"/>
    <p:sldId xmlns:r="http://schemas.openxmlformats.org/officeDocument/2006/relationships" id="271" r:id="Rdb11070c6d614f99"/>
    <p:sldId xmlns:r="http://schemas.openxmlformats.org/officeDocument/2006/relationships" id="272" r:id="R9ca18525ea25428d"/>
    <p:sldId xmlns:r="http://schemas.openxmlformats.org/officeDocument/2006/relationships" id="273" r:id="R59ed0fe4c5ba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ecb37c35b84e92" /><Relationship Type="http://schemas.openxmlformats.org/officeDocument/2006/relationships/slideMaster" Target="/ppt/slideMasters/slideMaster1.xml" Id="R5c575be7e5a24223" /><Relationship Type="http://schemas.openxmlformats.org/officeDocument/2006/relationships/notesMaster" Target="/ppt/notesMasters/notesMaster1.xml" Id="Rd27148232ef947af" /><Relationship Type="http://schemas.openxmlformats.org/officeDocument/2006/relationships/presProps" Target="/ppt/presProps.xml" Id="R3da1d37e92c1474f" /><Relationship Type="http://schemas.openxmlformats.org/officeDocument/2006/relationships/tableStyles" Target="/ppt/tableStyles.xml" Id="R154c364f5efc4624" /><Relationship Type="http://schemas.openxmlformats.org/officeDocument/2006/relationships/slide" Target="/ppt/slides/slide1.xml" Id="Rcd5924e32e534146" /><Relationship Type="http://schemas.openxmlformats.org/officeDocument/2006/relationships/slide" Target="/ppt/slides/slide2.xml" Id="Rff82c53329a0406d" /><Relationship Type="http://schemas.openxmlformats.org/officeDocument/2006/relationships/slide" Target="/ppt/slides/slide3.xml" Id="R9fb3c99e97c34da0" /><Relationship Type="http://schemas.openxmlformats.org/officeDocument/2006/relationships/slide" Target="/ppt/slides/slide4.xml" Id="Rf2dc74b6190c4fdc" /><Relationship Type="http://schemas.openxmlformats.org/officeDocument/2006/relationships/slide" Target="/ppt/slides/slide5.xml" Id="R8f0232bbef274240" /><Relationship Type="http://schemas.openxmlformats.org/officeDocument/2006/relationships/slide" Target="/ppt/slides/slide6.xml" Id="R6b58a07899de47fb" /><Relationship Type="http://schemas.openxmlformats.org/officeDocument/2006/relationships/slide" Target="/ppt/slides/slide7.xml" Id="Ra1b73d2dafe74ed9" /><Relationship Type="http://schemas.openxmlformats.org/officeDocument/2006/relationships/slide" Target="/ppt/slides/slide8.xml" Id="Rd738712b28734f56" /><Relationship Type="http://schemas.openxmlformats.org/officeDocument/2006/relationships/slide" Target="/ppt/slides/slide9.xml" Id="R04167c399fbc42bd" /><Relationship Type="http://schemas.openxmlformats.org/officeDocument/2006/relationships/slide" Target="/ppt/slides/slide10.xml" Id="Rdff684ed43c04cdc" /><Relationship Type="http://schemas.openxmlformats.org/officeDocument/2006/relationships/slide" Target="/ppt/slides/slide11.xml" Id="Rc1e17c9801674e43" /><Relationship Type="http://schemas.openxmlformats.org/officeDocument/2006/relationships/slide" Target="/ppt/slides/slide12.xml" Id="R80dffdf0df06453e" /><Relationship Type="http://schemas.openxmlformats.org/officeDocument/2006/relationships/slide" Target="/ppt/slides/slide13.xml" Id="R817107e0109244cc" /><Relationship Type="http://schemas.openxmlformats.org/officeDocument/2006/relationships/slide" Target="/ppt/slides/slide14.xml" Id="R1e7cacf3a50d4851" /><Relationship Type="http://schemas.openxmlformats.org/officeDocument/2006/relationships/slide" Target="/ppt/slides/slide15.xml" Id="Re0e11360179c4dec" /><Relationship Type="http://schemas.openxmlformats.org/officeDocument/2006/relationships/slide" Target="/ppt/slides/slide16.xml" Id="Rdb11070c6d614f99" /><Relationship Type="http://schemas.openxmlformats.org/officeDocument/2006/relationships/slide" Target="/ppt/slides/slide17.xml" Id="R9ca18525ea25428d" /><Relationship Type="http://schemas.openxmlformats.org/officeDocument/2006/relationships/slide" Target="/ppt/slides/slide18.xml" Id="R59ed0fe4c5ba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638d2815b41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406d29af64ab9" /><Relationship Type="http://schemas.openxmlformats.org/officeDocument/2006/relationships/notesMaster" Target="/ppt/notesMasters/notesMaster1.xml" Id="R2dec8b1d760a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04f32362f4ff5" /><Relationship Type="http://schemas.openxmlformats.org/officeDocument/2006/relationships/notesMaster" Target="/ppt/notesMasters/notesMaster1.xml" Id="R9c86a5ed1770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45b2b80a414092" /><Relationship Type="http://schemas.openxmlformats.org/officeDocument/2006/relationships/notesMaster" Target="/ppt/notesMasters/notesMaster1.xml" Id="Rcb6dd05542c3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582070c82841c0" /><Relationship Type="http://schemas.openxmlformats.org/officeDocument/2006/relationships/notesMaster" Target="/ppt/notesMasters/notesMaster1.xml" Id="Rdbe6ba3212f0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a9c59ac7748b9" /><Relationship Type="http://schemas.openxmlformats.org/officeDocument/2006/relationships/notesMaster" Target="/ppt/notesMasters/notesMaster1.xml" Id="R596464042ce9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8e2b25f2b400b" /><Relationship Type="http://schemas.openxmlformats.org/officeDocument/2006/relationships/notesMaster" Target="/ppt/notesMasters/notesMaster1.xml" Id="Rdeb08758b8cd47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324b955b464618" /><Relationship Type="http://schemas.openxmlformats.org/officeDocument/2006/relationships/notesMaster" Target="/ppt/notesMasters/notesMaster1.xml" Id="R67d0c46123944d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0e762eb37d46a0" /><Relationship Type="http://schemas.openxmlformats.org/officeDocument/2006/relationships/notesMaster" Target="/ppt/notesMasters/notesMaster1.xml" Id="Rae7a1dcc409345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6967703fb4298" /><Relationship Type="http://schemas.openxmlformats.org/officeDocument/2006/relationships/notesMaster" Target="/ppt/notesMasters/notesMaster1.xml" Id="Rf623c87ac2b342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57d98aa3754079" /><Relationship Type="http://schemas.openxmlformats.org/officeDocument/2006/relationships/notesMaster" Target="/ppt/notesMasters/notesMaster1.xml" Id="R862d43f7b0a14d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e98a6c66464dba" /><Relationship Type="http://schemas.openxmlformats.org/officeDocument/2006/relationships/notesMaster" Target="/ppt/notesMasters/notesMaster1.xml" Id="Rd3d9abec705a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6b7a94ba3d47e7" /><Relationship Type="http://schemas.openxmlformats.org/officeDocument/2006/relationships/notesMaster" Target="/ppt/notesMasters/notesMaster1.xml" Id="Re87ee78eec5749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562275f08947b4" /><Relationship Type="http://schemas.openxmlformats.org/officeDocument/2006/relationships/notesMaster" Target="/ppt/notesMasters/notesMaster1.xml" Id="R9eaa5397e07643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6ffb2ecbdc4c93" /><Relationship Type="http://schemas.openxmlformats.org/officeDocument/2006/relationships/notesMaster" Target="/ppt/notesMasters/notesMaster1.xml" Id="R6d1281ceb0644a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1ae9aa45a94128" /><Relationship Type="http://schemas.openxmlformats.org/officeDocument/2006/relationships/notesMaster" Target="/ppt/notesMasters/notesMaster1.xml" Id="R7ea9238ad01742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113b835db746c5" /><Relationship Type="http://schemas.openxmlformats.org/officeDocument/2006/relationships/notesMaster" Target="/ppt/notesMasters/notesMaster1.xml" Id="R9efcfd9bef324e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d53135d0b445e0" /><Relationship Type="http://schemas.openxmlformats.org/officeDocument/2006/relationships/notesMaster" Target="/ppt/notesMasters/notesMaster1.xml" Id="R9a683e65009940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e68021fbc446d4" /><Relationship Type="http://schemas.openxmlformats.org/officeDocument/2006/relationships/notesMaster" Target="/ppt/notesMasters/notesMaster1.xml" Id="Rd2ff900a4b9b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 del proyecto según el relevamiento y los manuales. Nombre del software FCEA-Datasys. Institución: FCEA, Universidad Nacional de Concepción. Fotografía y escudos originales: client/public.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Integrantes y docentes según los avances académicos y los manuales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primer avance y AGENTS.md. La evaluación y aprobación académica se realiza fuera del sistema. La Dirección de Investigación opera en coordinación con Biblioteca y TIC. Captura real: inicio de la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general, consistente con el Manual de Usuario del 28/10/2026. El acceso controlado abarca metadatos y documentos privados según los permisos efectivos.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Objetivos completos en el documento del proyecto: registro con autores y tutores, orden de autoría, reutilización de catálogos, búsqueda, control de cuentas/sesiones/permisos, validación de archivos y duplicados, reportes, auditoría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AGENTS.md; server/src/publications, attachments y catalogs. La inactivación conserva el historial. El límite inicial de resumen es 300 palabras y es configurable. Duplicados de título, resumen, abstract y hash se rechazan. ClamAV analiza los adjuntos. Captura real del catálogo.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server/src/users, security, auditing y backups; docs/PERMISSIONS.md. Permisos efectivos y configurables por rol y cuenta. Tres fallos consecutivos bloquean al usuario durante cinco minutos. Auditoría inmutable: si falla su escritura, se cancela la operación protegida.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package.json, lockfiles, README.md y código. Cliente React 19 y Vite 7. Node 24.11+ (&lt;25). PostgreSQL 18. Prisma 7. Detalle ampliado en documento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historial Git del 05 al 28/10/2026 y avances de septiembre. Referencia estimada retrospectivamente, sin línea base inicial aprobada. CSV y PDF separados conservan fechas, duración y dependencias. Las barras observadas representan intervalos de hitos, no horas trabajadas.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Transacción 1. Fuentes: server/src/publications/routes.ts y ApiPublicationForm.tsx. Captura real del formulario del Manual de Usuario. Durante la defensa, usar datos únicos, guardar y comparar el código asignado con su reporte. Resultado: publicación, relaciones y auditoría confirmadas.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Transacción 2. Fuentes: server/src/users/routes.ts y UserPages.tsx. Captura real del formulario Nuevo usuario. La contraseña se conserva como hash seguro. Verificar la cuenta y el evento USUARIO_CREADO. Reporte de la transacción: auditoría filtrada por operación, no un reporte general de usuarios.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Exportaciones reales de la API demo del 28/10/2026. T1: INV-00008, Emprendimiento sostenible y desarrollo económico local. T2: eventos USUARIO_CREADO de las dos cuentas iniciales de la demo. Archivos PDF y XLSX en Reportes/. Se mantienen filtros y snapshot. Sin coincidencias: HTTP 200 sin archivo. Las imágenes son páginas de las exportaciones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Evidencia: pruebas ejecutadas durante la revisión: servidor unitarias 245, cliente 115, despliegue 22 y backups sin servicios 13. Total 395. No se ejecutó nuevamente toda la batería de integración. Permisos, rechazo de duplicados, restricciones, control de versión y rollback de auditoría cubiertos por las suites correspondientes.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docs/BACKUPS.md y Evidencias/restauracion-actual.json. Crear copia por interfaz o comando del perfil, verificar índice y hash, restaurar en una base aislada y comprobar integridad. Restauración real PostgreSQL 18: 3 usuarios, 8 publicaciones, 14 autores, 12 tutores y 8 adjuntos. Hash de los ocho adjuntos verificado separadamente. Captura real de Copias de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Evidencias/programacion-vigente.json y backup-automatico-actual.json. Tarea diaria de Windows a las 02:00 (America/Asuncion), última salida 0 el 28/10/2026 02:00:03. La copia automática incluida corresponde a una fila PROGRAMADO/COMPLETO del historial restaurado. No se afirma que sea el mismo intento de la última ejecución del Programador. PostgreSQL debe estar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Evidencias/recuperacion-drive-actual.json y restauracion-actual.json. Descarga real desde Drive de la copia demo existente. Permiso solo de propietario, sin acceso público. 93.829 bytes, SHA-256 coincidente con local y auditoría. Esa misma copia se restauró en PostgreSQL de prueba. El dump no incluye adjuntos: los ocho PDF se entregan como respaldo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Pasos completos en 05 Pasos para abrir el software.txt. Extraer código, instalar requisitos Node 24.11+ (&lt;25), PostgreSQL 18 y ClamAV. La primera instalación requiere registro npm. npm run start:demo informa URL, por defecto http://127.0.0.1:8080. Accesos en documento 04. Producción requiere HTTPS, SMTP y Drive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de la defensa. Dos transacciones y reportes, backups y restauración documentados. Se entregan Gantt, manuales, accesos y código. Ensayo y exposición oral a cargo del equipo. La consigna general también solicita video de hasta tres minutos: se incluye guion, la grabación queda pendiente. Fondo: fotografía institucional original client/public/fcea-campus.png.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987137c1245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f387ff24e4b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7a83a12714e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5408749654a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0635db47a4a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17696e10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08F9A-389A-4443-92F8-9F6DC2822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DCC710-D5C7-4B5E-943D-47DCB4D3D3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C63BF1-95D2-436F-92C8-308E6D9F7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84919-EFBC-4149-A5BE-8D017F9E7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60C108-E93E-41AD-B05C-B66BE07C1C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89098-F98C-4BE4-90AA-322C44F5B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070502-7D60-4712-927E-596A7FBF2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AAA31E-B11D-486E-A61B-CC84EC586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D1BA4-719C-4960-B341-498B756AF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75FA5F-70F0-403F-AD3C-C241D1D64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4df7a203a4693" /><Relationship Type="http://schemas.openxmlformats.org/officeDocument/2006/relationships/slideLayout" Target="/ppt/slideLayouts/slideLayout1.xml" Id="Rea096353f3e54222" /><Relationship Type="http://schemas.openxmlformats.org/officeDocument/2006/relationships/slideLayout" Target="/ppt/slideLayouts/slideLayout2.xml" Id="R50f0ea0fa3a64725" /><Relationship Type="http://schemas.openxmlformats.org/officeDocument/2006/relationships/slideLayout" Target="/ppt/slideLayouts/slideLayout3.xml" Id="R1c92b2972a274422" /><Relationship Type="http://schemas.openxmlformats.org/officeDocument/2006/relationships/slideLayout" Target="/ppt/slideLayouts/slideLayout4.xml" Id="Rc3a08f66bc6d4024" /><Relationship Type="http://schemas.openxmlformats.org/officeDocument/2006/relationships/slideLayout" Target="/ppt/slideLayouts/slideLayout5.xml" Id="R86018ce558db41b2" /><Relationship Type="http://schemas.openxmlformats.org/officeDocument/2006/relationships/slideLayout" Target="/ppt/slideLayouts/slideLayout6.xml" Id="R4eab61b76d5e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96353f3e54222"/>
    <p:sldLayoutId xmlns:r="http://schemas.openxmlformats.org/officeDocument/2006/relationships" id="2147483650" r:id="R50f0ea0fa3a64725"/>
    <p:sldLayoutId xmlns:r="http://schemas.openxmlformats.org/officeDocument/2006/relationships" id="2147483651" r:id="R1c92b2972a274422"/>
    <p:sldLayoutId xmlns:r="http://schemas.openxmlformats.org/officeDocument/2006/relationships" id="2147483652" r:id="Rc3a08f66bc6d4024"/>
    <p:sldLayoutId xmlns:r="http://schemas.openxmlformats.org/officeDocument/2006/relationships" id="2147483653" r:id="R86018ce558db41b2"/>
    <p:sldLayoutId xmlns:r="http://schemas.openxmlformats.org/officeDocument/2006/relationships" id="2147483654" r:id="R4eab61b76d5e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a3049a25041c8" /><Relationship Type="http://schemas.openxmlformats.org/officeDocument/2006/relationships/image" Target="/ppt/media/image.png" Id="R0104731519ee45ec" /><Relationship Type="http://schemas.openxmlformats.org/officeDocument/2006/relationships/notesSlide" Target="/ppt/notesSlides/notesSlide1.xml" Id="Rc02720ca8f1a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68b712a7d46c6" /><Relationship Type="http://schemas.openxmlformats.org/officeDocument/2006/relationships/notesSlide" Target="/ppt/notesSlides/notesSlide2.xml" Id="Ra23e9fda1b99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4e818493c4fa4" /><Relationship Type="http://schemas.openxmlformats.org/officeDocument/2006/relationships/image" Target="/ppt/media/image2.png" Id="R874f0b2d21654797" /><Relationship Type="http://schemas.openxmlformats.org/officeDocument/2006/relationships/notesSlide" Target="/ppt/notesSlides/notesSlide3.xml" Id="R2c3c7d4acee2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e7d6e6da44ab1" /><Relationship Type="http://schemas.openxmlformats.org/officeDocument/2006/relationships/notesSlide" Target="/ppt/notesSlides/notesSlide4.xml" Id="R7c5f9aefcb27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1883f4bc44089" /><Relationship Type="http://schemas.openxmlformats.org/officeDocument/2006/relationships/notesSlide" Target="/ppt/notesSlides/notesSlide5.xml" Id="R82aa7c98e1e3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1db988cc6413a" /><Relationship Type="http://schemas.openxmlformats.org/officeDocument/2006/relationships/image" Target="/ppt/media/image3.png" Id="R02a764d2c93a4f1c" /><Relationship Type="http://schemas.openxmlformats.org/officeDocument/2006/relationships/notesSlide" Target="/ppt/notesSlides/notesSlide6.xml" Id="R3bf38078acae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77a48df86433c" /><Relationship Type="http://schemas.openxmlformats.org/officeDocument/2006/relationships/notesSlide" Target="/ppt/notesSlides/notesSlide7.xml" Id="Rd5a707d5f502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5d2a81f3a4abb" /><Relationship Type="http://schemas.openxmlformats.org/officeDocument/2006/relationships/notesSlide" Target="/ppt/notesSlides/notesSlide8.xml" Id="R36b5444eca00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a42dfc7274527" /><Relationship Type="http://schemas.openxmlformats.org/officeDocument/2006/relationships/notesSlide" Target="/ppt/notesSlides/notesSlide9.xml" Id="R1f5f1e4f852749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2a868e7624c2b" /><Relationship Type="http://schemas.openxmlformats.org/officeDocument/2006/relationships/image" Target="/ppt/media/image4.png" Id="R5c5193d1ff8e4c54" /><Relationship Type="http://schemas.openxmlformats.org/officeDocument/2006/relationships/notesSlide" Target="/ppt/notesSlides/notesSlide10.xml" Id="R5f3685ba54f0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06efd673b4131" /><Relationship Type="http://schemas.openxmlformats.org/officeDocument/2006/relationships/image" Target="/ppt/media/image5.png" Id="Ra723abeac252455a" /><Relationship Type="http://schemas.openxmlformats.org/officeDocument/2006/relationships/notesSlide" Target="/ppt/notesSlides/notesSlide11.xml" Id="R18482068e30f4b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8e4b7094f4794" /><Relationship Type="http://schemas.openxmlformats.org/officeDocument/2006/relationships/image" Target="/ppt/media/image6.png" Id="Rc90cf6de97e44309" /><Relationship Type="http://schemas.openxmlformats.org/officeDocument/2006/relationships/image" Target="/ppt/media/image7.png" Id="R8a4cfac00eb24d68" /><Relationship Type="http://schemas.openxmlformats.org/officeDocument/2006/relationships/notesSlide" Target="/ppt/notesSlides/notesSlide12.xml" Id="R1a3a119eedc64e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52464b21f4eb6" /><Relationship Type="http://schemas.openxmlformats.org/officeDocument/2006/relationships/chart" Target="/ppt/slides/charts/chart1.xml" Id="R9c5f5d68e96241a7" /><Relationship Type="http://schemas.openxmlformats.org/officeDocument/2006/relationships/notesSlide" Target="/ppt/notesSlides/notesSlide13.xml" Id="Rcbb2f1f5afbf49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1164109b848ee" /><Relationship Type="http://schemas.openxmlformats.org/officeDocument/2006/relationships/image" Target="/ppt/media/image8.png" Id="Rf9b38f83c71c4091" /><Relationship Type="http://schemas.openxmlformats.org/officeDocument/2006/relationships/notesSlide" Target="/ppt/notesSlides/notesSlide14.xml" Id="Rdd93075cd36648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bef5e79744fdf" /><Relationship Type="http://schemas.openxmlformats.org/officeDocument/2006/relationships/notesSlide" Target="/ppt/notesSlides/notesSlide15.xml" Id="Ra94e7e68ffbc4f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8ba8a89874894" /><Relationship Type="http://schemas.openxmlformats.org/officeDocument/2006/relationships/notesSlide" Target="/ppt/notesSlides/notesSlide16.xml" Id="Rdd40740a972b42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95fe44ca5445b" /><Relationship Type="http://schemas.openxmlformats.org/officeDocument/2006/relationships/image" Target="/ppt/media/image9.png" Id="Re63fdb6fa5ee4e76" /><Relationship Type="http://schemas.openxmlformats.org/officeDocument/2006/relationships/notesSlide" Target="/ppt/notesSlides/notesSlide17.xml" Id="R4cfc37c429e144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3d3a4ea3f4091" /><Relationship Type="http://schemas.openxmlformats.org/officeDocument/2006/relationships/image" Target="/ppt/media/image10.png" Id="R746abae2bd104b4a" /><Relationship Type="http://schemas.openxmlformats.org/officeDocument/2006/relationships/notesSlide" Target="/ppt/notesSlides/notesSlide18.xml" Id="Re2ff3dcaaafd4e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Pruebas aprobadas</c:v>
          </c:tx>
          <c:spPr>
            <a:solidFill xmlns:a="http://schemas.openxmlformats.org/drawingml/2006/main">
              <a:srgbClr val="4B0A24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Servidor</c:v>
                </c:pt>
                <c:pt idx="1">
                  <c:v>Cliente</c:v>
                </c:pt>
                <c:pt idx="2">
                  <c:v>Despliegue</c:v>
                </c:pt>
                <c:pt idx="3">
                  <c:v>Backups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245</c:v>
                </c:pt>
                <c:pt idx="1">
                  <c:v>115</c:v>
                </c:pt>
                <c:pt idx="2">
                  <c:v>22</c:v>
                </c:pt>
                <c:pt idx="3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4B0A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35F26-C01D-4CCE-AF27-DA351F63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6AD9DFAD-D5E4-4579-A4CD-406828B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56FBC-6949-45B3-9A36-AFD797AA2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731519ee45ec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DEFENSA DEL TRABAJO PRÁCTICO FINAL">
            <a:extLst xmlns:a="http://schemas.openxmlformats.org/drawingml/2006/main">
              <a:ext uri="{FF2B5EF4-FFF2-40B4-BE49-F238E27FC236}">
                <a16:creationId xmlns:a16="http://schemas.microsoft.com/office/drawing/2014/main" id="{1FF3A91D-E87A-4813-A1A7-51E48BF7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6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DEFENSA DEL TRABAJO PRÁCTICO FINAL</a:t>
            </a:r>
          </a:p>
        </p:txBody>
      </p:sp>
      <p:sp>
        <p:nvSpPr>
          <p:cNvPr id="5" name="FCEA-&#10;Datasys">
            <a:extLst xmlns:a="http://schemas.openxmlformats.org/drawingml/2006/main">
              <a:ext uri="{FF2B5EF4-FFF2-40B4-BE49-F238E27FC236}">
                <a16:creationId xmlns:a16="http://schemas.microsoft.com/office/drawing/2014/main" id="{0016A8D2-8923-456E-A893-6F5AEA1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6096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FCEA-</a:t>
            </a:r>
          </a:p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Datasys</a:t>
            </a:r>
          </a:p>
        </p:txBody>
      </p:sp>
      <p:sp>
        <p:nvSpPr>
          <p:cNvPr id="6" name="Desarrollo de un catálogo&#10;bibliográfico digital&#10;">
            <a:extLst xmlns:a="http://schemas.openxmlformats.org/drawingml/2006/main">
              <a:ext uri="{FF2B5EF4-FFF2-40B4-BE49-F238E27FC236}">
                <a16:creationId xmlns:a16="http://schemas.microsoft.com/office/drawing/2014/main" id="{76FC8C96-3F2D-4F22-9364-8341E39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81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Desarrollo de un catálogo</a:t>
            </a:r>
          </a:p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bibliográfico digital</a:t>
            </a:r>
          </a:p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la FCEA-UNC</a:t>
            </a:r>
          </a:p>
        </p:txBody>
      </p:sp>
      <p:sp>
        <p:nvSpPr>
          <p:cNvPr id="7" name="Ingeniería de Software I&#10;Octubre de 2026">
            <a:extLst xmlns:a="http://schemas.openxmlformats.org/drawingml/2006/main">
              <a:ext uri="{FF2B5EF4-FFF2-40B4-BE49-F238E27FC236}">
                <a16:creationId xmlns:a16="http://schemas.microsoft.com/office/drawing/2014/main" id="{AE767E7A-8C3F-4D85-A28B-85F85F2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Ingeniería de Software I</a:t>
            </a:r>
          </a:p>
          <a:p xmlns:a="http://schemas.openxmlformats.org/drawingml/2006/main">
            <a: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47801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72CDE-A043-4BB6-A04B-AF1AB6F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Equipo del proyecto">
            <a:extLst xmlns:a="http://schemas.openxmlformats.org/drawingml/2006/main">
              <a:ext uri="{FF2B5EF4-FFF2-40B4-BE49-F238E27FC236}">
                <a16:creationId xmlns:a16="http://schemas.microsoft.com/office/drawing/2014/main" id="{79C9F532-03E2-4E09-BFC9-CBE8AEAB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Equipo del proyecto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34D5073-B4B5-41D2-9AB3-86DDF4D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Facultad de Ciencias Económicas y Administrativa">
            <a:extLst xmlns:a="http://schemas.openxmlformats.org/drawingml/2006/main">
              <a:ext uri="{FF2B5EF4-FFF2-40B4-BE49-F238E27FC236}">
                <a16:creationId xmlns:a16="http://schemas.microsoft.com/office/drawing/2014/main" id="{6688F1C4-9ECB-48D8-94DA-3EF8A3E8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Facultad de Ciencias Económicas y Administrativas, Universidad Nacional de Concepción</a:t>
            </a:r>
          </a:p>
        </p:txBody>
      </p:sp>
      <p:sp>
        <p:nvSpPr>
          <p:cNvPr id="5" name="Alan Gabriel Cabrera Villalba">
            <a:extLst xmlns:a="http://schemas.openxmlformats.org/drawingml/2006/main">
              <a:ext uri="{FF2B5EF4-FFF2-40B4-BE49-F238E27FC236}">
                <a16:creationId xmlns:a16="http://schemas.microsoft.com/office/drawing/2014/main" id="{BBD542DF-01CC-44F8-9BD5-BB32742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Alan Gabriel Cabrera Villalba</a:t>
            </a:r>
          </a:p>
        </p:txBody>
      </p:sp>
      <p:sp>
        <p:nvSpPr>
          <p:cNvPr id="6" name="Ivan Ramon Duarte Villar">
            <a:extLst xmlns:a="http://schemas.openxmlformats.org/drawingml/2006/main">
              <a:ext uri="{FF2B5EF4-FFF2-40B4-BE49-F238E27FC236}">
                <a16:creationId xmlns:a16="http://schemas.microsoft.com/office/drawing/2014/main" id="{58FC590A-12E5-46BA-ABD2-B3CF314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Ivan Ramon Duarte Villar</a:t>
            </a:r>
          </a:p>
        </p:txBody>
      </p:sp>
      <p:sp>
        <p:nvSpPr>
          <p:cNvPr id="7" name="Fabrizio Ruben Larrosa Miranda">
            <a:extLst xmlns:a="http://schemas.openxmlformats.org/drawingml/2006/main">
              <a:ext uri="{FF2B5EF4-FFF2-40B4-BE49-F238E27FC236}">
                <a16:creationId xmlns:a16="http://schemas.microsoft.com/office/drawing/2014/main" id="{900E0CA9-83D0-4F51-A4B0-B9CD813F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Fabrizio Ruben Larrosa Miranda</a:t>
            </a:r>
          </a:p>
        </p:txBody>
      </p:sp>
      <p:sp>
        <p:nvSpPr>
          <p:cNvPr id="8" name="Thiago Mathias Torres Montania">
            <a:extLst xmlns:a="http://schemas.openxmlformats.org/drawingml/2006/main">
              <a:ext uri="{FF2B5EF4-FFF2-40B4-BE49-F238E27FC236}">
                <a16:creationId xmlns:a16="http://schemas.microsoft.com/office/drawing/2014/main" id="{35358ABB-63A0-4109-A77B-86A19528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Thiago Mathias Torres Montania</a:t>
            </a:r>
          </a:p>
        </p:txBody>
      </p:sp>
      <p:sp>
        <p:nvSpPr>
          <p:cNvPr id="9" name="Alan Amin Bogarín Godoy">
            <a:extLst xmlns:a="http://schemas.openxmlformats.org/drawingml/2006/main">
              <a:ext uri="{FF2B5EF4-FFF2-40B4-BE49-F238E27FC236}">
                <a16:creationId xmlns:a16="http://schemas.microsoft.com/office/drawing/2014/main" id="{6585CD9B-F27B-4837-B46A-C81321B3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Alan Amin Bogarín Godoy</a:t>
            </a:r>
          </a:p>
        </p:txBody>
      </p:sp>
      <p:sp>
        <p:nvSpPr>
          <p:cNvPr id="10" name="Edgar Ibañez Meza">
            <a:extLst xmlns:a="http://schemas.openxmlformats.org/drawingml/2006/main">
              <a:ext uri="{FF2B5EF4-FFF2-40B4-BE49-F238E27FC236}">
                <a16:creationId xmlns:a16="http://schemas.microsoft.com/office/drawing/2014/main" id="{2360A708-6799-4824-B6BF-115F4EA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862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Edgar Ibañez Meza</a:t>
            </a:r>
          </a:p>
        </p:txBody>
      </p:sp>
      <p:sp>
        <p:nvSpPr>
          <p:cNvPr id="11" name="DOCENTES">
            <a:extLst xmlns:a="http://schemas.openxmlformats.org/drawingml/2006/main">
              <a:ext uri="{FF2B5EF4-FFF2-40B4-BE49-F238E27FC236}">
                <a16:creationId xmlns:a16="http://schemas.microsoft.com/office/drawing/2014/main" id="{FBC5DFCC-76A4-4EA9-8D04-F0DC25D0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DOCENTES</a:t>
            </a:r>
          </a:p>
        </p:txBody>
      </p:sp>
      <p:sp>
        <p:nvSpPr>
          <p:cNvPr id="12" name="María Del Rosario Zorrilla A.&#10;Juan Benito Torres">
            <a:extLst xmlns:a="http://schemas.openxmlformats.org/drawingml/2006/main">
              <a:ext uri="{FF2B5EF4-FFF2-40B4-BE49-F238E27FC236}">
                <a16:creationId xmlns:a16="http://schemas.microsoft.com/office/drawing/2014/main" id="{58CA8323-3A1B-4393-9EC5-34F5E17B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María Del Rosario Zorrilla A.</a:t>
            </a:r>
          </a:p>
          <a:p xmlns:a="http://schemas.openxmlformats.org/drawingml/2006/main">
            <a: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Juan Benito Torres Báez</a:t>
            </a:r>
          </a:p>
        </p:txBody>
      </p:sp>
    </p:spTree>
    <p:extLst>
      <p:ext uri="{BB962C8B-B14F-4D97-AF65-F5344CB8AC3E}">
        <p14:creationId xmlns:p14="http://schemas.microsoft.com/office/powerpoint/2010/main" val="1063233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D78EC-7760-42E6-99D8-0E025348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75A0818-1B72-4213-8F14-907411C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F76DC-BD36-4244-BD9C-A1B255BE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4" name="Problema&#10;y alcance">
            <a:extLst xmlns:a="http://schemas.openxmlformats.org/drawingml/2006/main">
              <a:ext uri="{FF2B5EF4-FFF2-40B4-BE49-F238E27FC236}">
                <a16:creationId xmlns:a16="http://schemas.microsoft.com/office/drawing/2014/main" id="{CB342BCC-BF23-415C-9EC1-ACA5E1C6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3524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alcance</a:t>
            </a:r>
          </a:p>
        </p:txBody>
      </p:sp>
      <p:sp>
        <p:nvSpPr>
          <p:cNvPr id="5" name="La documentación&#10;dispersa dificulta&#10;localizar la">
            <a:extLst xmlns:a="http://schemas.openxmlformats.org/drawingml/2006/main">
              <a:ext uri="{FF2B5EF4-FFF2-40B4-BE49-F238E27FC236}">
                <a16:creationId xmlns:a16="http://schemas.microsoft.com/office/drawing/2014/main" id="{6106ECBC-134E-4527-89AD-E284560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documentación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dispersa dificulta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localizar la producción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académica.</a:t>
            </a:r>
          </a:p>
        </p:txBody>
      </p:sp>
      <p:sp>
        <p:nvSpPr>
          <p:cNvPr id="6" name="Investigación&#10;Biblioteca y TIC">
            <a:extLst xmlns:a="http://schemas.openxmlformats.org/drawingml/2006/main">
              <a:ext uri="{FF2B5EF4-FFF2-40B4-BE49-F238E27FC236}">
                <a16:creationId xmlns:a16="http://schemas.microsoft.com/office/drawing/2014/main" id="{9065AE3F-809B-47BC-9E4D-22607175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Investigación</a:t>
            </a:r>
          </a:p>
          <a:p xmlns:a="http://schemas.openxmlformats.org/drawingml/2006/main">
            <a:pPr algn="l">
              <a:defRPr sz="19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Biblioteca y TIC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7071B-51F7-4505-AFE9-3696688DC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f0b2d21654797"/>
          <a:stretch xmlns:a="http://schemas.openxmlformats.org/drawingml/2006/main"/>
        </p:blipFill>
        <p:spPr>
          <a:xfrm xmlns:a="http://schemas.openxmlformats.org/drawingml/2006/main">
            <a:off x="5146675" y="819150"/>
            <a:ext cx="6223000" cy="4667250"/>
          </a:xfrm>
          <a:prstGeom xmlns:a="http://schemas.openxmlformats.org/drawingml/2006/main" prst="rect">
            <a:avLst/>
          </a:prstGeom>
        </p:spPr>
      </p:pic>
      <p:sp>
        <p:nvSpPr>
          <p:cNvPr id="8" name="Registro y consulta de trabajos&#10;previamente apro">
            <a:extLst xmlns:a="http://schemas.openxmlformats.org/drawingml/2006/main">
              <a:ext uri="{FF2B5EF4-FFF2-40B4-BE49-F238E27FC236}">
                <a16:creationId xmlns:a16="http://schemas.microsoft.com/office/drawing/2014/main" id="{5C7C14A5-9D06-462E-8CFB-22AAAF11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2452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Registro y consulta de trabajos</a:t>
            </a:r>
          </a:p>
          <a:p xmlns:a="http://schemas.openxmlformats.org/drawingml/2006/main">
            <a: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previamente aprobados por la institución.</a:t>
            </a:r>
          </a:p>
        </p:txBody>
      </p:sp>
    </p:spTree>
    <p:extLst>
      <p:ext uri="{BB962C8B-B14F-4D97-AF65-F5344CB8AC3E}">
        <p14:creationId xmlns:p14="http://schemas.microsoft.com/office/powerpoint/2010/main" val="1313904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128C-7467-4D78-A279-0C94E8B7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ADE64CC2-53D2-437E-9D73-E9EE39E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OBJETIVO GENERAL">
            <a:extLst xmlns:a="http://schemas.openxmlformats.org/drawingml/2006/main">
              <a:ext uri="{FF2B5EF4-FFF2-40B4-BE49-F238E27FC236}">
                <a16:creationId xmlns:a16="http://schemas.microsoft.com/office/drawing/2014/main" id="{5229619D-F324-4802-BA67-5FF0018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4" name="Organizar, preservar&#10;y facilitar la consulta">
            <a:extLst xmlns:a="http://schemas.openxmlformats.org/drawingml/2006/main">
              <a:ext uri="{FF2B5EF4-FFF2-40B4-BE49-F238E27FC236}">
                <a16:creationId xmlns:a16="http://schemas.microsoft.com/office/drawing/2014/main" id="{58D522C0-06D4-4CFD-B5D9-06DDCDEC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104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Organizar, preservar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facilitar la consulta</a:t>
            </a:r>
          </a:p>
        </p:txBody>
      </p:sp>
      <p:sp>
        <p:nvSpPr>
          <p:cNvPr id="5" name="de los metadatos de la producción académica y ci">
            <a:extLst xmlns:a="http://schemas.openxmlformats.org/drawingml/2006/main">
              <a:ext uri="{FF2B5EF4-FFF2-40B4-BE49-F238E27FC236}">
                <a16:creationId xmlns:a16="http://schemas.microsoft.com/office/drawing/2014/main" id="{130475A6-4EDA-471A-BB0D-CA5357E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85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los metadatos de la producción académica y científica</a:t>
            </a:r>
          </a:p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aprobada de la FCEA-UNC mediante un catálogo</a:t>
            </a:r>
          </a:p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bibliográfico digital con acceso controlado.</a:t>
            </a:r>
          </a:p>
        </p:txBody>
      </p:sp>
      <p:sp>
        <p:nvSpPr>
          <p:cNvPr id="6" name="Información institucional disponible para la con">
            <a:extLst xmlns:a="http://schemas.openxmlformats.org/drawingml/2006/main">
              <a:ext uri="{FF2B5EF4-FFF2-40B4-BE49-F238E27FC236}">
                <a16:creationId xmlns:a16="http://schemas.microsoft.com/office/drawing/2014/main" id="{108A6E22-A116-4882-8A54-F8E536C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Información institucional disponible para la consulta bibliográfica.</a:t>
            </a:r>
          </a:p>
        </p:txBody>
      </p:sp>
    </p:spTree>
    <p:extLst>
      <p:ext uri="{BB962C8B-B14F-4D97-AF65-F5344CB8AC3E}">
        <p14:creationId xmlns:p14="http://schemas.microsoft.com/office/powerpoint/2010/main" val="1363427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74E41-5B9A-4D19-8CBF-A3A4BE34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Objetivos específicos">
            <a:extLst xmlns:a="http://schemas.openxmlformats.org/drawingml/2006/main">
              <a:ext uri="{FF2B5EF4-FFF2-40B4-BE49-F238E27FC236}">
                <a16:creationId xmlns:a16="http://schemas.microsoft.com/office/drawing/2014/main" id="{E1C3880B-A934-4A0D-869C-4297500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Objetivos específicos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520DCBE-9E5E-4FED-AAA8-F8D7B66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gistrar">
            <a:extLst xmlns:a="http://schemas.openxmlformats.org/drawingml/2006/main">
              <a:ext uri="{FF2B5EF4-FFF2-40B4-BE49-F238E27FC236}">
                <a16:creationId xmlns:a16="http://schemas.microsoft.com/office/drawing/2014/main" id="{C751BAE7-6599-44FF-B90E-A0391F2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8117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5" name="Trabajos con autoría, orientación&#10;y clasificació">
            <a:extLst xmlns:a="http://schemas.openxmlformats.org/drawingml/2006/main">
              <a:ext uri="{FF2B5EF4-FFF2-40B4-BE49-F238E27FC236}">
                <a16:creationId xmlns:a16="http://schemas.microsoft.com/office/drawing/2014/main" id="{B14EFD78-8094-4D05-951D-60E276A5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Trabajos con autoría, orientación</a:t>
            </a:r>
          </a:p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y clasificación académica.</a:t>
            </a:r>
          </a:p>
        </p:txBody>
      </p:sp>
      <p:sp>
        <p:nvSpPr>
          <p:cNvPr id="6" name="Localizar">
            <a:extLst xmlns:a="http://schemas.openxmlformats.org/drawingml/2006/main">
              <a:ext uri="{FF2B5EF4-FFF2-40B4-BE49-F238E27FC236}">
                <a16:creationId xmlns:a16="http://schemas.microsoft.com/office/drawing/2014/main" id="{1EB4AF51-46A9-450B-9AE5-DF332329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8117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Localizar</a:t>
            </a:r>
          </a:p>
        </p:txBody>
      </p:sp>
      <p:sp>
        <p:nvSpPr>
          <p:cNvPr id="7" name="Búsqueda por texto y filtros&#10;con personas y catá">
            <a:extLst xmlns:a="http://schemas.openxmlformats.org/drawingml/2006/main">
              <a:ext uri="{FF2B5EF4-FFF2-40B4-BE49-F238E27FC236}">
                <a16:creationId xmlns:a16="http://schemas.microsoft.com/office/drawing/2014/main" id="{6A8EA37F-7AAD-4B28-808C-79138D1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Búsqueda por texto y filtros</a:t>
            </a:r>
          </a:p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con personas y catálogos reutilizables.</a:t>
            </a:r>
          </a:p>
        </p:txBody>
      </p:sp>
      <p:sp>
        <p:nvSpPr>
          <p:cNvPr id="8" name="Controlar">
            <a:extLst xmlns:a="http://schemas.openxmlformats.org/drawingml/2006/main">
              <a:ext uri="{FF2B5EF4-FFF2-40B4-BE49-F238E27FC236}">
                <a16:creationId xmlns:a16="http://schemas.microsoft.com/office/drawing/2014/main" id="{DFAA0489-098B-4F32-8EDF-8D6E629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Controlar</a:t>
            </a:r>
          </a:p>
        </p:txBody>
      </p:sp>
      <p:sp>
        <p:nvSpPr>
          <p:cNvPr id="9" name="Cuentas, permisos y archivos&#10;con validaciones de">
            <a:extLst xmlns:a="http://schemas.openxmlformats.org/drawingml/2006/main">
              <a:ext uri="{FF2B5EF4-FFF2-40B4-BE49-F238E27FC236}">
                <a16:creationId xmlns:a16="http://schemas.microsoft.com/office/drawing/2014/main" id="{083EC54C-2B6E-46B0-8A54-B814467F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Cuentas, permisos y archivos</a:t>
            </a:r>
          </a:p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con validaciones de seguridad.</a:t>
            </a:r>
          </a:p>
        </p:txBody>
      </p:sp>
      <p:sp>
        <p:nvSpPr>
          <p:cNvPr id="10" name="Documentar">
            <a:extLst xmlns:a="http://schemas.openxmlformats.org/drawingml/2006/main">
              <a:ext uri="{FF2B5EF4-FFF2-40B4-BE49-F238E27FC236}">
                <a16:creationId xmlns:a16="http://schemas.microsoft.com/office/drawing/2014/main" id="{DE024C1D-E0C7-43F5-914F-49CE2A4A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Documentar</a:t>
            </a:r>
          </a:p>
        </p:txBody>
      </p:sp>
      <p:sp>
        <p:nvSpPr>
          <p:cNvPr id="11" name="Reportes PDF y Excel&#10;y trazabilidad de operacion">
            <a:extLst xmlns:a="http://schemas.openxmlformats.org/drawingml/2006/main">
              <a:ext uri="{FF2B5EF4-FFF2-40B4-BE49-F238E27FC236}">
                <a16:creationId xmlns:a16="http://schemas.microsoft.com/office/drawing/2014/main" id="{2F1BCD6A-66B5-4F70-8BB3-78ADDE2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Reportes PDF y Excel</a:t>
            </a:r>
          </a:p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y trazabilidad de operaciones.</a:t>
            </a:r>
          </a:p>
        </p:txBody>
      </p:sp>
      <p:sp>
        <p:nvSpPr>
          <p:cNvPr id="12" name="Recuperar">
            <a:extLst xmlns:a="http://schemas.openxmlformats.org/drawingml/2006/main">
              <a:ext uri="{FF2B5EF4-FFF2-40B4-BE49-F238E27FC236}">
                <a16:creationId xmlns:a16="http://schemas.microsoft.com/office/drawing/2014/main" id="{93BC4EFC-C77B-458B-A74A-19252933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Recuperar</a:t>
            </a:r>
          </a:p>
        </p:txBody>
      </p:sp>
      <p:sp>
        <p:nvSpPr>
          <p:cNvPr id="13" name="Copias de la base de datos&#10;y procedimientos de r">
            <a:extLst xmlns:a="http://schemas.openxmlformats.org/drawingml/2006/main">
              <a:ext uri="{FF2B5EF4-FFF2-40B4-BE49-F238E27FC236}">
                <a16:creationId xmlns:a16="http://schemas.microsoft.com/office/drawing/2014/main" id="{B8362D5C-C9C7-4B17-A46E-AE490E5C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Copias de la base de datos</a:t>
            </a:r>
          </a:p>
          <a:p xmlns:a="http://schemas.openxmlformats.org/drawingml/2006/main">
            <a:pPr algn="l">
              <a:defRPr sz="19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y procedimientos de restauración.</a:t>
            </a:r>
          </a:p>
        </p:txBody>
      </p:sp>
    </p:spTree>
    <p:extLst>
      <p:ext uri="{BB962C8B-B14F-4D97-AF65-F5344CB8AC3E}">
        <p14:creationId xmlns:p14="http://schemas.microsoft.com/office/powerpoint/2010/main" val="865014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F5477-A5EE-4A0F-8FB6-43957DC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Requerimientos de catálogo">
            <a:extLst xmlns:a="http://schemas.openxmlformats.org/drawingml/2006/main">
              <a:ext uri="{FF2B5EF4-FFF2-40B4-BE49-F238E27FC236}">
                <a16:creationId xmlns:a16="http://schemas.microsoft.com/office/drawing/2014/main" id="{6E5489B9-4984-4822-86A9-6EDA24F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Requerimientos de catálogo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1F8B65F1-AB85-4B20-9737-AF22171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D48E4-A7F9-453B-895D-FD1883012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764d2c93a4f1c"/>
          <a:stretch xmlns:a="http://schemas.openxmlformats.org/drawingml/2006/main"/>
        </p:blipFill>
        <p:spPr>
          <a:xfrm xmlns:a="http://schemas.openxmlformats.org/drawingml/2006/main">
            <a:off x="809625" y="1514475"/>
            <a:ext cx="6477000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Publicaciones">
            <a:extLst xmlns:a="http://schemas.openxmlformats.org/drawingml/2006/main">
              <a:ext uri="{FF2B5EF4-FFF2-40B4-BE49-F238E27FC236}">
                <a16:creationId xmlns:a16="http://schemas.microsoft.com/office/drawing/2014/main" id="{B039DD2C-8055-4381-97E3-70FDFAA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47825"/>
            <a:ext cx="357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Publicaciones</a:t>
            </a:r>
          </a:p>
        </p:txBody>
      </p:sp>
      <p:sp>
        <p:nvSpPr>
          <p:cNvPr id="6" name="Alta, consulta, edición&#10;e inactivación.">
            <a:extLst xmlns:a="http://schemas.openxmlformats.org/drawingml/2006/main">
              <a:ext uri="{FF2B5EF4-FFF2-40B4-BE49-F238E27FC236}">
                <a16:creationId xmlns:a16="http://schemas.microsoft.com/office/drawing/2014/main" id="{CE8BFDA3-17C8-46DF-B453-71934DC5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24075"/>
            <a:ext cx="3571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Alta, consulta, edición</a:t>
            </a:r>
          </a:p>
          <a:p xmlns:a="http://schemas.openxmlformats.org/drawingml/2006/main">
            <a: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e inactivación.</a:t>
            </a:r>
          </a:p>
        </p:txBody>
      </p:sp>
      <p:sp>
        <p:nvSpPr>
          <p:cNvPr id="7" name="Autoría y búsqueda">
            <a:extLst xmlns:a="http://schemas.openxmlformats.org/drawingml/2006/main">
              <a:ext uri="{FF2B5EF4-FFF2-40B4-BE49-F238E27FC236}">
                <a16:creationId xmlns:a16="http://schemas.microsoft.com/office/drawing/2014/main" id="{8059C89B-1A77-4321-9FF8-C7DC315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Autoría y búsqueda</a:t>
            </a:r>
          </a:p>
        </p:txBody>
      </p:sp>
      <p:sp>
        <p:nvSpPr>
          <p:cNvPr id="8" name="Varios autores y tutores.&#10;Texto y filtros combin">
            <a:extLst xmlns:a="http://schemas.openxmlformats.org/drawingml/2006/main">
              <a:ext uri="{FF2B5EF4-FFF2-40B4-BE49-F238E27FC236}">
                <a16:creationId xmlns:a16="http://schemas.microsoft.com/office/drawing/2014/main" id="{DF25C198-3D92-4DA5-9A05-474C450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48075"/>
            <a:ext cx="3571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Varios autores y tutores.</a:t>
            </a:r>
          </a:p>
          <a:p xmlns:a="http://schemas.openxmlformats.org/drawingml/2006/main">
            <a:pPr algn="l">
              <a:defRPr sz="2025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Texto y filtros combinables.</a:t>
            </a:r>
          </a:p>
        </p:txBody>
      </p:sp>
      <p:sp>
        <p:nvSpPr>
          <p:cNvPr id="9" name="300">
            <a:extLst xmlns:a="http://schemas.openxmlformats.org/drawingml/2006/main">
              <a:ext uri="{FF2B5EF4-FFF2-40B4-BE49-F238E27FC236}">
                <a16:creationId xmlns:a16="http://schemas.microsoft.com/office/drawing/2014/main" id="{A8E42665-579E-43F8-9B1D-FA6B00C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1762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6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0" name="palabras de resumen&#10;por defecto">
            <a:extLst xmlns:a="http://schemas.openxmlformats.org/drawingml/2006/main">
              <a:ext uri="{FF2B5EF4-FFF2-40B4-BE49-F238E27FC236}">
                <a16:creationId xmlns:a16="http://schemas.microsoft.com/office/drawing/2014/main" id="{9840884C-1DA7-475F-9E3A-6DC72B6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14900"/>
            <a:ext cx="185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palabras de resumen</a:t>
            </a:r>
          </a:p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por defecto</a:t>
            </a:r>
          </a:p>
        </p:txBody>
      </p:sp>
      <p:sp>
        <p:nvSpPr>
          <p:cNvPr id="11" name="Duplicados y adjuntos sujetos a validación.">
            <a:extLst xmlns:a="http://schemas.openxmlformats.org/drawingml/2006/main">
              <a:ext uri="{FF2B5EF4-FFF2-40B4-BE49-F238E27FC236}">
                <a16:creationId xmlns:a16="http://schemas.microsoft.com/office/drawing/2014/main" id="{5C9E3DDA-5D50-473E-90D7-BE0B7305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864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Duplicados y adjuntos sujetos a validación.</a:t>
            </a:r>
          </a:p>
        </p:txBody>
      </p:sp>
    </p:spTree>
    <p:extLst>
      <p:ext uri="{BB962C8B-B14F-4D97-AF65-F5344CB8AC3E}">
        <p14:creationId xmlns:p14="http://schemas.microsoft.com/office/powerpoint/2010/main" val="1335270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D4303-195F-40BD-AF91-A6A1EAC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Administración y seguridad">
            <a:extLst xmlns:a="http://schemas.openxmlformats.org/drawingml/2006/main">
              <a:ext uri="{FF2B5EF4-FFF2-40B4-BE49-F238E27FC236}">
                <a16:creationId xmlns:a16="http://schemas.microsoft.com/office/drawing/2014/main" id="{84FDF372-039F-488E-9BA6-A188685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Administración y seguridad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D136E18-BB18-4E65-B4B3-D43126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9272FF97-8840-40A9-9DAD-57D13D7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1714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intentos fallidos">
            <a:extLst xmlns:a="http://schemas.openxmlformats.org/drawingml/2006/main">
              <a:ext uri="{FF2B5EF4-FFF2-40B4-BE49-F238E27FC236}">
                <a16:creationId xmlns:a16="http://schemas.microsoft.com/office/drawing/2014/main" id="{1F139772-7349-4B29-9E88-01A6232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intentos fallidos</a:t>
            </a:r>
          </a:p>
        </p:txBody>
      </p:sp>
      <p:sp>
        <p:nvSpPr>
          <p:cNvPr id="6" name="5 min">
            <a:extLst xmlns:a="http://schemas.openxmlformats.org/drawingml/2006/main">
              <a:ext uri="{FF2B5EF4-FFF2-40B4-BE49-F238E27FC236}">
                <a16:creationId xmlns:a16="http://schemas.microsoft.com/office/drawing/2014/main" id="{AA917378-86DC-4445-A4D3-07F38A4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7" name="de bloqueo por usuario">
            <a:extLst xmlns:a="http://schemas.openxmlformats.org/drawingml/2006/main">
              <a:ext uri="{FF2B5EF4-FFF2-40B4-BE49-F238E27FC236}">
                <a16:creationId xmlns:a16="http://schemas.microsoft.com/office/drawing/2014/main" id="{E9A77859-7891-4D06-BDB9-3E18AA1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bloqueo por usuario</a:t>
            </a:r>
          </a:p>
        </p:txBody>
      </p:sp>
      <p:sp>
        <p:nvSpPr>
          <p:cNvPr id="8" name="Permisos efectivos">
            <a:extLst xmlns:a="http://schemas.openxmlformats.org/drawingml/2006/main">
              <a:ext uri="{FF2B5EF4-FFF2-40B4-BE49-F238E27FC236}">
                <a16:creationId xmlns:a16="http://schemas.microsoft.com/office/drawing/2014/main" id="{0F188CFA-5980-4A62-8D4A-08E8A82F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43075"/>
            <a:ext cx="552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Permisos efectivos</a:t>
            </a:r>
          </a:p>
        </p:txBody>
      </p:sp>
      <p:sp>
        <p:nvSpPr>
          <p:cNvPr id="9" name="Roles y excepciones por cuenta&#10;con control en el">
            <a:extLst xmlns:a="http://schemas.openxmlformats.org/drawingml/2006/main">
              <a:ext uri="{FF2B5EF4-FFF2-40B4-BE49-F238E27FC236}">
                <a16:creationId xmlns:a16="http://schemas.microsoft.com/office/drawing/2014/main" id="{9D3A4DD6-D521-4519-8AF2-73AA9F6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Roles y excepciones por cuenta</a:t>
            </a:r>
          </a:p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con control en el servidor.</a:t>
            </a:r>
          </a:p>
        </p:txBody>
      </p:sp>
      <p:sp>
        <p:nvSpPr>
          <p:cNvPr id="10" name="Auditoría obligatoria">
            <a:extLst xmlns:a="http://schemas.openxmlformats.org/drawingml/2006/main">
              <a:ext uri="{FF2B5EF4-FFF2-40B4-BE49-F238E27FC236}">
                <a16:creationId xmlns:a16="http://schemas.microsoft.com/office/drawing/2014/main" id="{5C1DC736-C5A1-4F78-B88F-F053C44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552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 obligatoria</a:t>
            </a:r>
          </a:p>
        </p:txBody>
      </p:sp>
      <p:sp>
        <p:nvSpPr>
          <p:cNvPr id="11" name="Accesos y operaciones trazables.&#10;Si el log falla">
            <a:extLst xmlns:a="http://schemas.openxmlformats.org/drawingml/2006/main">
              <a:ext uri="{FF2B5EF4-FFF2-40B4-BE49-F238E27FC236}">
                <a16:creationId xmlns:a16="http://schemas.microsoft.com/office/drawing/2014/main" id="{E8CA583B-AEF8-4E42-8138-BFA8849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Accesos y operaciones trazables.</a:t>
            </a:r>
          </a:p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Si el log falla, el cambio se cancela.</a:t>
            </a:r>
          </a:p>
        </p:txBody>
      </p:sp>
      <p:sp>
        <p:nvSpPr>
          <p:cNvPr id="12" name="Reportes PDF / Excel y copias administradas.">
            <a:extLst xmlns:a="http://schemas.openxmlformats.org/drawingml/2006/main">
              <a:ext uri="{FF2B5EF4-FFF2-40B4-BE49-F238E27FC236}">
                <a16:creationId xmlns:a16="http://schemas.microsoft.com/office/drawing/2014/main" id="{A3A113A3-3068-44FB-9801-2E2CACF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Reportes PDF / Excel y copias administradas.</a:t>
            </a:r>
          </a:p>
        </p:txBody>
      </p:sp>
    </p:spTree>
    <p:extLst>
      <p:ext uri="{BB962C8B-B14F-4D97-AF65-F5344CB8AC3E}">
        <p14:creationId xmlns:p14="http://schemas.microsoft.com/office/powerpoint/2010/main" val="917582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CB85C-3236-4634-9392-C9E0FB5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Herramientas de desarrollo">
            <a:extLst xmlns:a="http://schemas.openxmlformats.org/drawingml/2006/main">
              <a:ext uri="{FF2B5EF4-FFF2-40B4-BE49-F238E27FC236}">
                <a16:creationId xmlns:a16="http://schemas.microsoft.com/office/drawing/2014/main" id="{4B51BB7D-6E78-4D09-88C9-9C59B1C1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Herramientas de desarrollo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C007C435-C7D7-41E5-B4C8-B351648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85A6F-697F-4C46-9941-AF269E07229A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6924675"/>
              </a:tblGrid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Tecnología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T w="6668">
                      <a:solidFill>
                        <a:srgbClr val="DFD5C7"/>
                      </a:solidFill>
                      <a:prstDash val="solid"/>
                    </a:lnT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4B0A24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Aplicación en el proyecto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T w="6668">
                      <a:solidFill>
                        <a:srgbClr val="DFD5C7"/>
                      </a:solidFill>
                      <a:prstDash val="solid"/>
                    </a:lnT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4B0A24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 y Vite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Interfaz web y contratos tipados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Node.js 24 y Fastify 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API y lanzador para Windows y Linux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PostgreSQL 18 y Prisma 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Relaciones, transacciones y búsqueda FTS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ClamAV y Argon2id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Análisis de archivos y hash de contraseñas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PDFKit y ExcelJS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Reportes PDF y Excel desde el servidor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F5F1EA"/>
                    </a:solidFill>
                  </a:tcPr>
                </a:tc>
              </a:tr>
              <a:tr h="595993"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pg_dump y Drive API v3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FD5C7"/>
                      </a:solidFill>
                      <a:prstDash val="solid"/>
                    </a:lnL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71450" tIns="95250" rIns="152400" bIns="95250"/>
                    <a:lstStyle/>
                    <a:p>
                      <a:r>
                        <a:rPr sz="1950" b="0">
                          <a:solidFill>
                            <a:srgbClr val="26232B"/>
                          </a:solidFill>
                          <a:latin typeface="Arial"/>
                          <a:ea typeface="Arial"/>
                          <a:cs typeface="Arial"/>
                        </a:rPr>
                        <a:t>Copias locales y remotas verificadas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FD5C7"/>
                      </a:solidFill>
                      <a:prstDash val="solid"/>
                    </a:lnR>
                    <a:lnB w="6668">
                      <a:solidFill>
                        <a:srgbClr val="DFD5C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13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983C4F-9D9A-4353-811A-E02A310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Cronograma de trabajo">
            <a:extLst xmlns:a="http://schemas.openxmlformats.org/drawingml/2006/main">
              <a:ext uri="{FF2B5EF4-FFF2-40B4-BE49-F238E27FC236}">
                <a16:creationId xmlns:a16="http://schemas.microsoft.com/office/drawing/2014/main" id="{C8D36E05-6EB2-42C3-987A-1E87B8D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Cronograma de trabajo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16F2AA15-332B-4D60-AEB4-8C3BB0E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OCTUBRE DE 2026">
            <a:extLst xmlns:a="http://schemas.openxmlformats.org/drawingml/2006/main">
              <a:ext uri="{FF2B5EF4-FFF2-40B4-BE49-F238E27FC236}">
                <a16:creationId xmlns:a16="http://schemas.microsoft.com/office/drawing/2014/main" id="{A19B0091-DDAD-4026-8D45-EBFB9E55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66A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B29F616F-B928-4870-B0D6-0CDAD1F4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3EECE0C4-5855-466E-B75A-78F4D09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15">
            <a:extLst xmlns:a="http://schemas.openxmlformats.org/drawingml/2006/main">
              <a:ext uri="{FF2B5EF4-FFF2-40B4-BE49-F238E27FC236}">
                <a16:creationId xmlns:a16="http://schemas.microsoft.com/office/drawing/2014/main" id="{C76AA3C6-5D54-4FC6-A35C-904C1D6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20">
            <a:extLst xmlns:a="http://schemas.openxmlformats.org/drawingml/2006/main">
              <a:ext uri="{FF2B5EF4-FFF2-40B4-BE49-F238E27FC236}">
                <a16:creationId xmlns:a16="http://schemas.microsoft.com/office/drawing/2014/main" id="{96F49AE8-BDC2-4834-9C25-458BBE8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25">
            <a:extLst xmlns:a="http://schemas.openxmlformats.org/drawingml/2006/main">
              <a:ext uri="{FF2B5EF4-FFF2-40B4-BE49-F238E27FC236}">
                <a16:creationId xmlns:a16="http://schemas.microsoft.com/office/drawing/2014/main" id="{0BBF9087-D179-4441-B193-FE8F65F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28">
            <a:extLst xmlns:a="http://schemas.openxmlformats.org/drawingml/2006/main">
              <a:ext uri="{FF2B5EF4-FFF2-40B4-BE49-F238E27FC236}">
                <a16:creationId xmlns:a16="http://schemas.microsoft.com/office/drawing/2014/main" id="{8E03BB44-BEDC-4310-92E4-70DA427F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" name="T1  Arquitectura y preparación">
            <a:extLst xmlns:a="http://schemas.openxmlformats.org/drawingml/2006/main">
              <a:ext uri="{FF2B5EF4-FFF2-40B4-BE49-F238E27FC236}">
                <a16:creationId xmlns:a16="http://schemas.microsoft.com/office/drawing/2014/main" id="{75361909-FBF9-40F4-B841-BC929C1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T1  Arquitectura y preparación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8BEC1-B373-4781-9C3A-66368AF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9552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13B94-402D-4D49-9341-2782334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4792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14" name="T2  Cliente y formularios">
            <a:extLst xmlns:a="http://schemas.openxmlformats.org/drawingml/2006/main">
              <a:ext uri="{FF2B5EF4-FFF2-40B4-BE49-F238E27FC236}">
                <a16:creationId xmlns:a16="http://schemas.microsoft.com/office/drawing/2014/main" id="{3B63D33C-5FBD-47E8-BB07-60C6FD9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T2  Cliente y formularios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0F5FE-7673-4764-8C00-727916A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33675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0F830-C70A-4A55-B5A8-B794514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86075"/>
            <a:ext cx="1428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17" name="T3  API, datos y seguridad">
            <a:extLst xmlns:a="http://schemas.openxmlformats.org/drawingml/2006/main">
              <a:ext uri="{FF2B5EF4-FFF2-40B4-BE49-F238E27FC236}">
                <a16:creationId xmlns:a16="http://schemas.microsoft.com/office/drawing/2014/main" id="{FD173E39-7E88-4605-BC5D-A44E57E3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T3  API, datos y seguridad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3F0AC-EB48-424D-9EA3-6720A3D5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2155E-1A64-418E-8113-7A75723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24225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0" name="T4  Integración cliente/API">
            <a:extLst xmlns:a="http://schemas.openxmlformats.org/drawingml/2006/main">
              <a:ext uri="{FF2B5EF4-FFF2-40B4-BE49-F238E27FC236}">
                <a16:creationId xmlns:a16="http://schemas.microsoft.com/office/drawing/2014/main" id="{5587567A-96B7-4F99-A587-648FF0B4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T4  Integración cliente/API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6116A-2117-4100-AFFD-625F2B6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0997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2AA70-0225-4CAD-9DAA-BDFA4C6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6237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3" name="T5  Instalación y reportes">
            <a:extLst xmlns:a="http://schemas.openxmlformats.org/drawingml/2006/main">
              <a:ext uri="{FF2B5EF4-FFF2-40B4-BE49-F238E27FC236}">
                <a16:creationId xmlns:a16="http://schemas.microsoft.com/office/drawing/2014/main" id="{6819355D-CA20-4CE2-A9B4-856BAA57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T5  Instalación y reportes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2A3C9-A94D-4F79-A057-E7A692E9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48125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82699-490D-4B44-9C27-9A02070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00525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6" name="T6  Permisos, backup y Drive">
            <a:extLst xmlns:a="http://schemas.openxmlformats.org/drawingml/2006/main">
              <a:ext uri="{FF2B5EF4-FFF2-40B4-BE49-F238E27FC236}">
                <a16:creationId xmlns:a16="http://schemas.microsoft.com/office/drawing/2014/main" id="{AB9847E1-04D7-465D-99AA-C9A29428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T6  Permisos, backup y Drive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5A777-AA40-4E82-9391-30753500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86275"/>
            <a:ext cx="1143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EB321-EE8C-4E6B-9D5B-CED315D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38675"/>
            <a:ext cx="857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9" name="T7  Documentación y revisión">
            <a:extLst xmlns:a="http://schemas.openxmlformats.org/drawingml/2006/main">
              <a:ext uri="{FF2B5EF4-FFF2-40B4-BE49-F238E27FC236}">
                <a16:creationId xmlns:a16="http://schemas.microsoft.com/office/drawing/2014/main" id="{E3E95293-6F18-43BF-A4C0-F60BB3D5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T7  Documentación y revisión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F3456-C904-4D25-B10B-2828B77F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92442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C018F-B5C5-4AB8-98FD-D0CFC6D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76825"/>
            <a:ext cx="571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02E21-3AD4-47BF-9962-2EDC722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2476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noFill/>
          </a:ln>
        </p:spPr>
      </p:sp>
      <p:sp>
        <p:nvSpPr>
          <p:cNvPr id="33" name="Referencia estimada">
            <a:extLst xmlns:a="http://schemas.openxmlformats.org/drawingml/2006/main">
              <a:ext uri="{FF2B5EF4-FFF2-40B4-BE49-F238E27FC236}">
                <a16:creationId xmlns:a16="http://schemas.microsoft.com/office/drawing/2014/main" id="{12947A07-E22E-40F2-8F3C-D1A6A32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Referencia estimada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AF854-C47D-40C3-AE81-326FD21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48325"/>
            <a:ext cx="2476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35" name="Intervalos de hitos Git">
            <a:extLst xmlns:a="http://schemas.openxmlformats.org/drawingml/2006/main">
              <a:ext uri="{FF2B5EF4-FFF2-40B4-BE49-F238E27FC236}">
                <a16:creationId xmlns:a16="http://schemas.microsoft.com/office/drawing/2014/main" id="{F620C941-BB32-452F-9B14-6156A90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721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Intervalos de hitos Git</a:t>
            </a:r>
          </a:p>
        </p:txBody>
      </p:sp>
      <p:sp>
        <p:nvSpPr>
          <p:cNvPr id="36" name="Estimación retrospectiva. Sin cronograma inicial">
            <a:extLst xmlns:a="http://schemas.openxmlformats.org/drawingml/2006/main">
              <a:ext uri="{FF2B5EF4-FFF2-40B4-BE49-F238E27FC236}">
                <a16:creationId xmlns:a16="http://schemas.microsoft.com/office/drawing/2014/main" id="{32B54158-3D33-43FC-A04D-7C58796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15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Estimación retrospectiva. Sin cronograma inicial aprobado ni registro de horas.</a:t>
            </a:r>
          </a:p>
        </p:txBody>
      </p:sp>
    </p:spTree>
    <p:extLst>
      <p:ext uri="{BB962C8B-B14F-4D97-AF65-F5344CB8AC3E}">
        <p14:creationId xmlns:p14="http://schemas.microsoft.com/office/powerpoint/2010/main" val="1470453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33948-85E8-4997-A4FA-5404ACE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472A21AE-EC08-4621-9282-19828F42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D289F81-EFC4-439F-8D1C-670A5B5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238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gistro de&#10;publicación">
            <a:extLst xmlns:a="http://schemas.openxmlformats.org/drawingml/2006/main">
              <a:ext uri="{FF2B5EF4-FFF2-40B4-BE49-F238E27FC236}">
                <a16:creationId xmlns:a16="http://schemas.microsoft.com/office/drawing/2014/main" id="{FC7BF056-AF56-41D1-96A4-95A15F5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Registro de</a:t>
            </a:r>
          </a:p>
          <a:p xmlns:a="http://schemas.openxmlformats.org/drawingml/2006/main">
            <a:pPr algn="l">
              <a:defRPr sz="367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publicación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FA359324-A799-4812-9B4A-5265A69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Metadatos">
            <a:extLst xmlns:a="http://schemas.openxmlformats.org/drawingml/2006/main">
              <a:ext uri="{FF2B5EF4-FFF2-40B4-BE49-F238E27FC236}">
                <a16:creationId xmlns:a16="http://schemas.microsoft.com/office/drawing/2014/main" id="{9D145EED-7C9D-48EA-B994-E57E5FC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Metadatos</a:t>
            </a:r>
          </a:p>
        </p:txBody>
      </p:sp>
      <p:sp>
        <p:nvSpPr>
          <p:cNvPr id="7" name="Autores, tutores y clasificación.">
            <a:extLst xmlns:a="http://schemas.openxmlformats.org/drawingml/2006/main">
              <a:ext uri="{FF2B5EF4-FFF2-40B4-BE49-F238E27FC236}">
                <a16:creationId xmlns:a16="http://schemas.microsoft.com/office/drawing/2014/main" id="{00E11DC2-C38A-48E1-80E1-347B8FA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Autores, tutores y clasificación.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03F41177-5F9D-4D58-9B99-347D747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Archivo o enlace">
            <a:extLst xmlns:a="http://schemas.openxmlformats.org/drawingml/2006/main">
              <a:ext uri="{FF2B5EF4-FFF2-40B4-BE49-F238E27FC236}">
                <a16:creationId xmlns:a16="http://schemas.microsoft.com/office/drawing/2014/main" id="{38F0DB68-5C65-47D5-A7B2-98C7BEA6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Archivo o enlace</a:t>
            </a:r>
          </a:p>
        </p:txBody>
      </p:sp>
      <p:sp>
        <p:nvSpPr>
          <p:cNvPr id="10" name="Validar, guardar y recargar.">
            <a:extLst xmlns:a="http://schemas.openxmlformats.org/drawingml/2006/main">
              <a:ext uri="{FF2B5EF4-FFF2-40B4-BE49-F238E27FC236}">
                <a16:creationId xmlns:a16="http://schemas.microsoft.com/office/drawing/2014/main" id="{0E58B8F9-81B2-48C5-816B-7E94C5A2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39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Validar, guardar y recargar.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7393D-55BA-436B-869F-F16091222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193d1ff8e4c54"/>
          <a:stretch xmlns:a="http://schemas.openxmlformats.org/drawingml/2006/main"/>
        </p:blipFill>
        <p:spPr>
          <a:xfrm xmlns:a="http://schemas.openxmlformats.org/drawingml/2006/main">
            <a:off x="5048250" y="628650"/>
            <a:ext cx="6781800" cy="5086350"/>
          </a:xfrm>
          <a:prstGeom xmlns:a="http://schemas.openxmlformats.org/drawingml/2006/main" prst="rect">
            <a:avLst/>
          </a:prstGeom>
        </p:spPr>
      </p:pic>
      <p:sp>
        <p:nvSpPr>
          <p:cNvPr id="12" name="Código y datos persistidos&#10;con su evento de audi">
            <a:extLst xmlns:a="http://schemas.openxmlformats.org/drawingml/2006/main">
              <a:ext uri="{FF2B5EF4-FFF2-40B4-BE49-F238E27FC236}">
                <a16:creationId xmlns:a16="http://schemas.microsoft.com/office/drawing/2014/main" id="{3A7492CB-0D52-4C06-9912-5877DF73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436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Código y datos persistidos</a:t>
            </a:r>
          </a:p>
          <a:p xmlns:a="http://schemas.openxmlformats.org/drawingml/2006/main">
            <a:pPr algn="l">
              <a:defRPr sz="19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con su evento de auditoría.</a:t>
            </a:r>
          </a:p>
        </p:txBody>
      </p:sp>
    </p:spTree>
    <p:extLst>
      <p:ext uri="{BB962C8B-B14F-4D97-AF65-F5344CB8AC3E}">
        <p14:creationId xmlns:p14="http://schemas.microsoft.com/office/powerpoint/2010/main" val="806824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395C3-64B8-4072-9356-F1E4E94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5656D716-1D5E-4E2A-B562-54E1A549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AE4D1-5C90-4682-AE17-D157147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5391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2EEE8-825B-4E1C-9F9E-34AA7B487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3abeac252455a"/>
          <a:stretch xmlns:a="http://schemas.openxmlformats.org/drawingml/2006/main"/>
        </p:blipFill>
        <p:spPr>
          <a:xfrm xmlns:a="http://schemas.openxmlformats.org/drawingml/2006/main">
            <a:off x="516125" y="523875"/>
            <a:ext cx="5806700" cy="5753100"/>
          </a:xfrm>
          <a:prstGeom xmlns:a="http://schemas.openxmlformats.org/drawingml/2006/main" prst="rect">
            <a:avLst/>
          </a:prstGeom>
        </p:spPr>
      </p:pic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8F2C3C7-3FE3-4944-86A4-A2F91E63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6725"/>
            <a:ext cx="2714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Alta de&#10;usuario">
            <a:extLst xmlns:a="http://schemas.openxmlformats.org/drawingml/2006/main">
              <a:ext uri="{FF2B5EF4-FFF2-40B4-BE49-F238E27FC236}">
                <a16:creationId xmlns:a16="http://schemas.microsoft.com/office/drawing/2014/main" id="{89298EB1-4344-4A37-8218-3DAAE11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38325"/>
            <a:ext cx="4286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Alta de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1">
            <a:extLst xmlns:a="http://schemas.openxmlformats.org/drawingml/2006/main">
              <a:ext uri="{FF2B5EF4-FFF2-40B4-BE49-F238E27FC236}">
                <a16:creationId xmlns:a16="http://schemas.microsoft.com/office/drawing/2014/main" id="{563AE8D0-BF2F-4B4F-8F3C-96B2E992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Datos de la cuenta">
            <a:extLst xmlns:a="http://schemas.openxmlformats.org/drawingml/2006/main">
              <a:ext uri="{FF2B5EF4-FFF2-40B4-BE49-F238E27FC236}">
                <a16:creationId xmlns:a16="http://schemas.microsoft.com/office/drawing/2014/main" id="{FB47ADC3-D6F7-4CC1-B206-261A3D8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19500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de la cuenta</a:t>
            </a:r>
          </a:p>
        </p:txBody>
      </p:sp>
      <p:sp>
        <p:nvSpPr>
          <p:cNvPr id="9" name="CI, correo, usuario y contraseña.">
            <a:extLst xmlns:a="http://schemas.openxmlformats.org/drawingml/2006/main">
              <a:ext uri="{FF2B5EF4-FFF2-40B4-BE49-F238E27FC236}">
                <a16:creationId xmlns:a16="http://schemas.microsoft.com/office/drawing/2014/main" id="{A87BBE9F-FEAE-4343-AD6E-CA865E65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2907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CI, correo, usuario y contraseña.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0E955F82-F1C6-49A9-92F8-1EE7EC4E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ol permitido">
            <a:extLst xmlns:a="http://schemas.openxmlformats.org/drawingml/2006/main">
              <a:ext uri="{FF2B5EF4-FFF2-40B4-BE49-F238E27FC236}">
                <a16:creationId xmlns:a16="http://schemas.microsoft.com/office/drawing/2014/main" id="{E7C2143E-4794-48F9-AE30-0BAA10D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62500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 permitido</a:t>
            </a:r>
          </a:p>
        </p:txBody>
      </p:sp>
      <p:sp>
        <p:nvSpPr>
          <p:cNvPr id="12" name="Guardar y verificar el alta.">
            <a:extLst xmlns:a="http://schemas.openxmlformats.org/drawingml/2006/main">
              <a:ext uri="{FF2B5EF4-FFF2-40B4-BE49-F238E27FC236}">
                <a16:creationId xmlns:a16="http://schemas.microsoft.com/office/drawing/2014/main" id="{22B06846-EE78-43CB-882F-AFB83D6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7207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Guardar y verificar el alta.</a:t>
            </a:r>
          </a:p>
        </p:txBody>
      </p:sp>
      <p:sp>
        <p:nvSpPr>
          <p:cNvPr id="13" name="Cuenta persistida y evento de auditoría.">
            <a:extLst xmlns:a="http://schemas.openxmlformats.org/drawingml/2006/main">
              <a:ext uri="{FF2B5EF4-FFF2-40B4-BE49-F238E27FC236}">
                <a16:creationId xmlns:a16="http://schemas.microsoft.com/office/drawing/2014/main" id="{E628238E-9838-4613-8FCA-A23EACA6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0674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C7D1"/>
                </a:solidFill>
                <a:latin typeface="Arial"/>
                <a:ea typeface="Arial"/>
                <a:cs typeface="Arial"/>
              </a:rPr>
              <a:t>Cuenta persistida y evento de auditoría.</a:t>
            </a:r>
          </a:p>
        </p:txBody>
      </p:sp>
    </p:spTree>
    <p:extLst>
      <p:ext uri="{BB962C8B-B14F-4D97-AF65-F5344CB8AC3E}">
        <p14:creationId xmlns:p14="http://schemas.microsoft.com/office/powerpoint/2010/main" val="1895044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E3DD2-8BD3-4664-92B3-5310BB5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Reportes de las transacciones">
            <a:extLst xmlns:a="http://schemas.openxmlformats.org/drawingml/2006/main">
              <a:ext uri="{FF2B5EF4-FFF2-40B4-BE49-F238E27FC236}">
                <a16:creationId xmlns:a16="http://schemas.microsoft.com/office/drawing/2014/main" id="{E029BC55-569E-4873-9FE2-7532EC5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Reportes de las transacciones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63383B65-C1C7-4CF8-AC9F-3F41476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Publicación registrada">
            <a:extLst xmlns:a="http://schemas.openxmlformats.org/drawingml/2006/main">
              <a:ext uri="{FF2B5EF4-FFF2-40B4-BE49-F238E27FC236}">
                <a16:creationId xmlns:a16="http://schemas.microsoft.com/office/drawing/2014/main" id="{D6750B42-8326-44E6-BB8E-A934F73E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Publicación registrada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677F-33B1-4CD4-BAF4-8FBB89CBC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cf6de97e44309"/>
          <a:stretch xmlns:a="http://schemas.openxmlformats.org/drawingml/2006/main"/>
        </p:blipFill>
        <p:spPr>
          <a:xfrm xmlns:a="http://schemas.openxmlformats.org/drawingml/2006/main">
            <a:off x="887947" y="2076450"/>
            <a:ext cx="2891356" cy="4086225"/>
          </a:xfrm>
          <a:prstGeom xmlns:a="http://schemas.openxmlformats.org/drawingml/2006/main" prst="rect">
            <a:avLst/>
          </a:prstGeom>
        </p:spPr>
      </p:pic>
      <p:sp>
        <p:nvSpPr>
          <p:cNvPr id="6" name="INV-00008">
            <a:extLst xmlns:a="http://schemas.openxmlformats.org/drawingml/2006/main">
              <a:ext uri="{FF2B5EF4-FFF2-40B4-BE49-F238E27FC236}">
                <a16:creationId xmlns:a16="http://schemas.microsoft.com/office/drawing/2014/main" id="{85F91965-EB20-4EE8-9897-0F4C4DF8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INV-00008</a:t>
            </a:r>
          </a:p>
        </p:txBody>
      </p:sp>
      <p:sp>
        <p:nvSpPr>
          <p:cNvPr id="7" name="Metadatos&#10;y documento&#10;del trabajo.">
            <a:extLst xmlns:a="http://schemas.openxmlformats.org/drawingml/2006/main">
              <a:ext uri="{FF2B5EF4-FFF2-40B4-BE49-F238E27FC236}">
                <a16:creationId xmlns:a16="http://schemas.microsoft.com/office/drawing/2014/main" id="{04098DB1-1D62-436E-81EB-009E6F9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1905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Metadatos</a:t>
            </a:r>
          </a:p>
          <a:p xmlns:a="http://schemas.openxmlformats.org/drawingml/2006/main">
            <a: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y documento</a:t>
            </a:r>
          </a:p>
          <a:p xmlns:a="http://schemas.openxmlformats.org/drawingml/2006/main">
            <a: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del trabajo.</a:t>
            </a:r>
          </a:p>
        </p:txBody>
      </p:sp>
      <p:sp>
        <p:nvSpPr>
          <p:cNvPr id="8" name="PDF&#10;+ Excel">
            <a:extLst xmlns:a="http://schemas.openxmlformats.org/drawingml/2006/main">
              <a:ext uri="{FF2B5EF4-FFF2-40B4-BE49-F238E27FC236}">
                <a16:creationId xmlns:a16="http://schemas.microsoft.com/office/drawing/2014/main" id="{283DFAD3-5089-4113-A9BF-F59ECCD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053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PDF</a:t>
            </a:r>
          </a:p>
          <a:p xmlns:a="http://schemas.openxmlformats.org/drawingml/2006/main">
            <a:pPr algn="l">
              <a:defRPr sz="25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+ Excel</a:t>
            </a:r>
          </a:p>
        </p:txBody>
      </p:sp>
      <p:sp>
        <p:nvSpPr>
          <p:cNvPr id="9" name="Alta de cuenta">
            <a:extLst xmlns:a="http://schemas.openxmlformats.org/drawingml/2006/main">
              <a:ext uri="{FF2B5EF4-FFF2-40B4-BE49-F238E27FC236}">
                <a16:creationId xmlns:a16="http://schemas.microsoft.com/office/drawing/2014/main" id="{D7540E33-9086-45E8-AAA0-BF59221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287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Alta de cuenta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B5F2-762E-400D-85E5-63B1626CD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cfac00eb24d68"/>
          <a:stretch xmlns:a="http://schemas.openxmlformats.org/drawingml/2006/main"/>
        </p:blipFill>
        <p:spPr>
          <a:xfrm xmlns:a="http://schemas.openxmlformats.org/drawingml/2006/main">
            <a:off x="6554153" y="2076450"/>
            <a:ext cx="2931795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Auditoría">
            <a:extLst xmlns:a="http://schemas.openxmlformats.org/drawingml/2006/main">
              <a:ext uri="{FF2B5EF4-FFF2-40B4-BE49-F238E27FC236}">
                <a16:creationId xmlns:a16="http://schemas.microsoft.com/office/drawing/2014/main" id="{BCDFA753-C80B-423E-A180-891DAF0B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43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12" name="Actor, recurso&#10;y resultado&#10;de la operación.">
            <a:extLst xmlns:a="http://schemas.openxmlformats.org/drawingml/2006/main">
              <a:ext uri="{FF2B5EF4-FFF2-40B4-BE49-F238E27FC236}">
                <a16:creationId xmlns:a16="http://schemas.microsoft.com/office/drawing/2014/main" id="{E9CDC68B-7601-465E-BED0-DC6946F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3370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Actor, recurso</a:t>
            </a:r>
          </a:p>
          <a:p xmlns:a="http://schemas.openxmlformats.org/drawingml/2006/main">
            <a: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y resultado</a:t>
            </a:r>
          </a:p>
          <a:p xmlns:a="http://schemas.openxmlformats.org/drawingml/2006/main">
            <a:pPr algn="l">
              <a:defRPr sz="18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de la operación.</a:t>
            </a:r>
          </a:p>
        </p:txBody>
      </p:sp>
      <p:sp>
        <p:nvSpPr>
          <p:cNvPr id="13" name="Filtro&#10;USUARIO_CREADO">
            <a:extLst xmlns:a="http://schemas.openxmlformats.org/drawingml/2006/main">
              <a:ext uri="{FF2B5EF4-FFF2-40B4-BE49-F238E27FC236}">
                <a16:creationId xmlns:a16="http://schemas.microsoft.com/office/drawing/2014/main" id="{22924588-D282-4C15-A445-AA33874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933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Filtro</a:t>
            </a:r>
          </a:p>
          <a:p xmlns:a="http://schemas.openxmlformats.org/drawingml/2006/main">
            <a:pPr algn="l">
              <a:defRPr sz="157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USUARIO_CREADO</a:t>
            </a:r>
          </a:p>
        </p:txBody>
      </p:sp>
    </p:spTree>
    <p:extLst>
      <p:ext uri="{BB962C8B-B14F-4D97-AF65-F5344CB8AC3E}">
        <p14:creationId xmlns:p14="http://schemas.microsoft.com/office/powerpoint/2010/main" val="9398968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C69A0-D56F-4DEC-B83D-BA76661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Validación del software">
            <a:extLst xmlns:a="http://schemas.openxmlformats.org/drawingml/2006/main">
              <a:ext uri="{FF2B5EF4-FFF2-40B4-BE49-F238E27FC236}">
                <a16:creationId xmlns:a16="http://schemas.microsoft.com/office/drawing/2014/main" id="{A289A50F-70C4-46EB-80FC-D56C1A6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Validación del software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0123C1F7-9CF8-482D-AFEA-EE2F717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395">
            <a:extLst xmlns:a="http://schemas.openxmlformats.org/drawingml/2006/main">
              <a:ext uri="{FF2B5EF4-FFF2-40B4-BE49-F238E27FC236}">
                <a16:creationId xmlns:a16="http://schemas.microsoft.com/office/drawing/2014/main" id="{4EC2322C-0736-420A-AFF1-D6F4FBE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524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3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113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395</a:t>
            </a:r>
          </a:p>
        </p:txBody>
      </p:sp>
      <p:sp>
        <p:nvSpPr>
          <p:cNvPr id="5" name="pruebas aprobadas">
            <a:extLst xmlns:a="http://schemas.openxmlformats.org/drawingml/2006/main">
              <a:ext uri="{FF2B5EF4-FFF2-40B4-BE49-F238E27FC236}">
                <a16:creationId xmlns:a16="http://schemas.microsoft.com/office/drawing/2014/main" id="{86496438-A4B4-40BC-9B85-70A18E0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447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232B"/>
                </a:solidFill>
                <a:latin typeface="Arial"/>
                <a:ea typeface="Arial"/>
                <a:cs typeface="Arial"/>
              </a:rPr>
              <a:t>pruebas aprobadas</a:t>
            </a:r>
          </a:p>
        </p:txBody>
      </p:sp>
      <p:sp>
        <p:nvSpPr>
          <p:cNvPr id="6" name="Validaciones, permisos&#10;e integridad transacciona">
            <a:extLst xmlns:a="http://schemas.openxmlformats.org/drawingml/2006/main">
              <a:ext uri="{FF2B5EF4-FFF2-40B4-BE49-F238E27FC236}">
                <a16:creationId xmlns:a16="http://schemas.microsoft.com/office/drawing/2014/main" id="{D49E25AE-8D68-44B8-832A-24D33D27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4495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Validaciones, permisos</a:t>
            </a:r>
          </a:p>
          <a:p xmlns:a="http://schemas.openxmlformats.org/drawingml/2006/main">
            <a:pPr algn="l">
              <a:defRPr sz="217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e integridad transaccional.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587DA62-72B2-4F36-97B6-95A0A69800B6}"/>
              </a:ext>
            </a:extLst>
          </p:cNvPr>
          <p:cNvGraphicFramePr/>
          <p:nvPr/>
        </p:nvGraphicFramePr>
        <p:xfrm>
          <a:off xmlns:a="http://schemas.openxmlformats.org/drawingml/2006/main" x="5391150" y="1695450"/>
          <a:ext xmlns:a="http://schemas.openxmlformats.org/drawingml/2006/main" cx="6334125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5f5d68e96241a7"/>
          </a:graphicData>
        </a:graphic>
      </p:graphicFrame>
      <p:sp>
        <p:nvSpPr>
          <p:cNvPr id="8" name="Resultado de las suites ejecutadas. No incluye u">
            <a:extLst xmlns:a="http://schemas.openxmlformats.org/drawingml/2006/main">
              <a:ext uri="{FF2B5EF4-FFF2-40B4-BE49-F238E27FC236}">
                <a16:creationId xmlns:a16="http://schemas.microsoft.com/office/drawing/2014/main" id="{928CEB56-359D-49EF-85BA-AF8F4FE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Resultado de las suites ejecutadas. No incluye una nueva corrida de toda la integración.</a:t>
            </a:r>
          </a:p>
        </p:txBody>
      </p:sp>
    </p:spTree>
    <p:extLst>
      <p:ext uri="{BB962C8B-B14F-4D97-AF65-F5344CB8AC3E}">
        <p14:creationId xmlns:p14="http://schemas.microsoft.com/office/powerpoint/2010/main" val="2673731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2FCE9-3BDF-4A22-A46E-38C9048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Backup manual y restauración">
            <a:extLst xmlns:a="http://schemas.openxmlformats.org/drawingml/2006/main">
              <a:ext uri="{FF2B5EF4-FFF2-40B4-BE49-F238E27FC236}">
                <a16:creationId xmlns:a16="http://schemas.microsoft.com/office/drawing/2014/main" id="{387847F9-E386-4E56-9D2A-FD7FBEB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Backup manual y restauración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9A693D31-8C86-40F2-85F6-C9D1B687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53C6-AF6F-46B3-B191-AB9D3C6DB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38f83c71c4091"/>
          <a:stretch xmlns:a="http://schemas.openxmlformats.org/drawingml/2006/main"/>
        </p:blipFill>
        <p:spPr>
          <a:xfrm xmlns:a="http://schemas.openxmlformats.org/drawingml/2006/main">
            <a:off x="1066800" y="1628775"/>
            <a:ext cx="6057900" cy="4543425"/>
          </a:xfrm>
          <a:prstGeom xmlns:a="http://schemas.openxmlformats.org/drawingml/2006/main" prst="rect">
            <a:avLst/>
          </a:prstGeom>
        </p:spPr>
      </p:pic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C12832E3-9201-469D-8DC6-6B21D46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811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rear copia">
            <a:extLst xmlns:a="http://schemas.openxmlformats.org/drawingml/2006/main">
              <a:ext uri="{FF2B5EF4-FFF2-40B4-BE49-F238E27FC236}">
                <a16:creationId xmlns:a16="http://schemas.microsoft.com/office/drawing/2014/main" id="{C84CF9ED-9B79-4F24-AB11-F9212A6F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8117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Crear copia</a:t>
            </a:r>
          </a:p>
        </p:txBody>
      </p:sp>
      <p:sp>
        <p:nvSpPr>
          <p:cNvPr id="7" name="Archivo .dump, índice y SHA-256.">
            <a:extLst xmlns:a="http://schemas.openxmlformats.org/drawingml/2006/main">
              <a:ext uri="{FF2B5EF4-FFF2-40B4-BE49-F238E27FC236}">
                <a16:creationId xmlns:a16="http://schemas.microsoft.com/office/drawing/2014/main" id="{EAAC5B56-42DF-4AC4-8013-3C70049A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Archivo .dump, índice y SHA-256.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735FD233-A4A1-4509-8EE3-289793F2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staurar">
            <a:extLst xmlns:a="http://schemas.openxmlformats.org/drawingml/2006/main">
              <a:ext uri="{FF2B5EF4-FFF2-40B4-BE49-F238E27FC236}">
                <a16:creationId xmlns:a16="http://schemas.microsoft.com/office/drawing/2014/main" id="{ABC1A182-5936-4B07-9848-2F590CE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Restaurar</a:t>
            </a:r>
          </a:p>
        </p:txBody>
      </p:sp>
      <p:sp>
        <p:nvSpPr>
          <p:cNvPr id="10" name="Base de prueba aislada.">
            <a:extLst xmlns:a="http://schemas.openxmlformats.org/drawingml/2006/main">
              <a:ext uri="{FF2B5EF4-FFF2-40B4-BE49-F238E27FC236}">
                <a16:creationId xmlns:a16="http://schemas.microsoft.com/office/drawing/2014/main" id="{2CA2350A-B5E4-46B5-BEBB-9AF74A2A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5282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Base de prueba aislada.</a:t>
            </a:r>
          </a:p>
        </p:txBody>
      </p:sp>
      <p:sp>
        <p:nvSpPr>
          <p:cNvPr id="11" name="Restauración verificada">
            <a:extLst xmlns:a="http://schemas.openxmlformats.org/drawingml/2006/main">
              <a:ext uri="{FF2B5EF4-FFF2-40B4-BE49-F238E27FC236}">
                <a16:creationId xmlns:a16="http://schemas.microsoft.com/office/drawing/2014/main" id="{2C483490-418F-4673-B9F5-8A388C6E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62475"/>
            <a:ext cx="3524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Restauración verificada</a:t>
            </a:r>
          </a:p>
        </p:txBody>
      </p:sp>
      <p:sp>
        <p:nvSpPr>
          <p:cNvPr id="12" name="3 cuentas&#10;8 publicaciones&#10;8 adjuntos">
            <a:extLst xmlns:a="http://schemas.openxmlformats.org/drawingml/2006/main">
              <a:ext uri="{FF2B5EF4-FFF2-40B4-BE49-F238E27FC236}">
                <a16:creationId xmlns:a16="http://schemas.microsoft.com/office/drawing/2014/main" id="{7253332E-7CCB-4BB0-B9B0-006C5E9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81625"/>
            <a:ext cx="3429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7F83"/>
                </a:solidFill>
                <a:latin typeface="Arial"/>
                <a:ea typeface="Arial"/>
                <a:cs typeface="Arial"/>
              </a:rPr>
              <a:t>3 cuentas</a:t>
            </a:r>
          </a:p>
          <a:p xmlns:a="http://schemas.openxmlformats.org/drawingml/2006/main">
            <a: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7F83"/>
                </a:solidFill>
                <a:latin typeface="Arial"/>
                <a:ea typeface="Arial"/>
                <a:cs typeface="Arial"/>
              </a:rPr>
              <a:t>8 publicaciones</a:t>
            </a:r>
          </a:p>
          <a:p xmlns:a="http://schemas.openxmlformats.org/drawingml/2006/main">
            <a:pPr algn="l">
              <a:defRPr sz="2025" b="0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7F83"/>
                </a:solidFill>
                <a:latin typeface="Arial"/>
                <a:ea typeface="Arial"/>
                <a:cs typeface="Arial"/>
              </a:rPr>
              <a:t>8 adjuntos</a:t>
            </a:r>
          </a:p>
        </p:txBody>
      </p:sp>
    </p:spTree>
    <p:extLst>
      <p:ext uri="{BB962C8B-B14F-4D97-AF65-F5344CB8AC3E}">
        <p14:creationId xmlns:p14="http://schemas.microsoft.com/office/powerpoint/2010/main" val="12192409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43A6D-E908-452F-9EC2-F4F068D7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Backup automático en el servidor">
            <a:extLst xmlns:a="http://schemas.openxmlformats.org/drawingml/2006/main">
              <a:ext uri="{FF2B5EF4-FFF2-40B4-BE49-F238E27FC236}">
                <a16:creationId xmlns:a16="http://schemas.microsoft.com/office/drawing/2014/main" id="{41F0E651-A168-4428-ABD5-062BC4C8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automático en el servidor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2687414C-38E7-4EC1-88FF-7115249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02:00">
            <a:extLst xmlns:a="http://schemas.openxmlformats.org/drawingml/2006/main">
              <a:ext uri="{FF2B5EF4-FFF2-40B4-BE49-F238E27FC236}">
                <a16:creationId xmlns:a16="http://schemas.microsoft.com/office/drawing/2014/main" id="{80CC53E7-386B-436C-B1BC-68AEA02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676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1312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02:00</a:t>
            </a:r>
          </a:p>
        </p:txBody>
      </p:sp>
      <p:sp>
        <p:nvSpPr>
          <p:cNvPr id="5" name="Tarea diaria de Windows">
            <a:extLst xmlns:a="http://schemas.openxmlformats.org/drawingml/2006/main">
              <a:ext uri="{FF2B5EF4-FFF2-40B4-BE49-F238E27FC236}">
                <a16:creationId xmlns:a16="http://schemas.microsoft.com/office/drawing/2014/main" id="{527A9C96-BE4D-469A-BED3-B2CB653B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638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Tarea diaria de Windows</a:t>
            </a:r>
          </a:p>
        </p:txBody>
      </p:sp>
      <p:sp>
        <p:nvSpPr>
          <p:cNvPr id="6" name="Hora local de Asunción">
            <a:extLst xmlns:a="http://schemas.openxmlformats.org/drawingml/2006/main">
              <a:ext uri="{FF2B5EF4-FFF2-40B4-BE49-F238E27FC236}">
                <a16:creationId xmlns:a16="http://schemas.microsoft.com/office/drawing/2014/main" id="{16CF6F96-8E0F-4609-A5F6-B83C5582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Hora local de Asunción</a:t>
            </a:r>
          </a:p>
        </p:txBody>
      </p:sp>
      <p:sp>
        <p:nvSpPr>
          <p:cNvPr id="7" name="Última ejecución">
            <a:extLst xmlns:a="http://schemas.openxmlformats.org/drawingml/2006/main">
              <a:ext uri="{FF2B5EF4-FFF2-40B4-BE49-F238E27FC236}">
                <a16:creationId xmlns:a16="http://schemas.microsoft.com/office/drawing/2014/main" id="{51F34E6E-CFC0-452C-A960-EC3F5DA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716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Última ejecución</a:t>
            </a:r>
          </a:p>
        </p:txBody>
      </p:sp>
      <p:sp>
        <p:nvSpPr>
          <p:cNvPr id="8" name="28/10/2026&#10;02:00:03">
            <a:extLst xmlns:a="http://schemas.openxmlformats.org/drawingml/2006/main">
              <a:ext uri="{FF2B5EF4-FFF2-40B4-BE49-F238E27FC236}">
                <a16:creationId xmlns:a16="http://schemas.microsoft.com/office/drawing/2014/main" id="{21379B4F-1330-45A7-97C6-931033FD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622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28/10/2026</a:t>
            </a:r>
          </a:p>
          <a:p xmlns:a="http://schemas.openxmlformats.org/drawingml/2006/main">
            <a:pPr algn="l">
              <a:defRPr sz="24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02:00:03</a:t>
            </a:r>
          </a:p>
        </p:txBody>
      </p:sp>
      <p:sp>
        <p:nvSpPr>
          <p:cNvPr id="9" name="0">
            <a:extLst xmlns:a="http://schemas.openxmlformats.org/drawingml/2006/main">
              <a:ext uri="{FF2B5EF4-FFF2-40B4-BE49-F238E27FC236}">
                <a16:creationId xmlns:a16="http://schemas.microsoft.com/office/drawing/2014/main" id="{86252FA5-D930-4D33-A665-D07E99B9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00475"/>
            <a:ext cx="1905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7425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código de salida">
            <a:extLst xmlns:a="http://schemas.openxmlformats.org/drawingml/2006/main">
              <a:ext uri="{FF2B5EF4-FFF2-40B4-BE49-F238E27FC236}">
                <a16:creationId xmlns:a16="http://schemas.microsoft.com/office/drawing/2014/main" id="{69651765-9A27-49CE-B10C-CBFC232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10150"/>
            <a:ext cx="349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 de salida</a:t>
            </a:r>
          </a:p>
        </p:txBody>
      </p:sp>
      <p:sp>
        <p:nvSpPr>
          <p:cNvPr id="11" name="La copia programada y el resultado del Programad">
            <a:extLst xmlns:a="http://schemas.openxmlformats.org/drawingml/2006/main">
              <a:ext uri="{FF2B5EF4-FFF2-40B4-BE49-F238E27FC236}">
                <a16:creationId xmlns:a16="http://schemas.microsoft.com/office/drawing/2014/main" id="{26661C28-BC9D-4CF0-BCB4-C80E12F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La copia programada y el resultado del Programador conservan sus evidencias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5916132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3ABF4-55E3-41A2-88A2-EAD3FEF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" name="Backup en la nube">
            <a:extLst xmlns:a="http://schemas.openxmlformats.org/drawingml/2006/main">
              <a:ext uri="{FF2B5EF4-FFF2-40B4-BE49-F238E27FC236}">
                <a16:creationId xmlns:a16="http://schemas.microsoft.com/office/drawing/2014/main" id="{DF9E0093-82FA-4072-8B41-37779CC3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Backup en la nube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B2C1EDFD-0832-4667-9369-B6E92DA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Google&#10;Drive">
            <a:extLst xmlns:a="http://schemas.openxmlformats.org/drawingml/2006/main">
              <a:ext uri="{FF2B5EF4-FFF2-40B4-BE49-F238E27FC236}">
                <a16:creationId xmlns:a16="http://schemas.microsoft.com/office/drawing/2014/main" id="{D90DF345-052A-4CBF-8B09-B5EE906A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5143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Google</a:t>
            </a:r>
          </a:p>
          <a:p xmlns:a="http://schemas.openxmlformats.org/drawingml/2006/main">
            <a:pPr algn="l">
              <a:defRPr sz="58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sp>
        <p:nvSpPr>
          <p:cNvPr id="5" name="Acceso restringido al propietario">
            <a:extLst xmlns:a="http://schemas.openxmlformats.org/drawingml/2006/main">
              <a:ext uri="{FF2B5EF4-FFF2-40B4-BE49-F238E27FC236}">
                <a16:creationId xmlns:a16="http://schemas.microsoft.com/office/drawing/2014/main" id="{6B391EB4-5F78-4C8A-BA5C-A0C3EFA9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Acceso restringido al propietario</a:t>
            </a:r>
          </a:p>
        </p:txBody>
      </p:sp>
      <p:sp>
        <p:nvSpPr>
          <p:cNvPr id="6" name="Los PDF privados se respaldan&#10;y entregan por sep">
            <a:extLst xmlns:a="http://schemas.openxmlformats.org/drawingml/2006/main">
              <a:ext uri="{FF2B5EF4-FFF2-40B4-BE49-F238E27FC236}">
                <a16:creationId xmlns:a16="http://schemas.microsoft.com/office/drawing/2014/main" id="{7D74D4C8-4693-4209-91AF-10BF3AB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Los PDF privados se respaldan</a:t>
            </a:r>
          </a:p>
          <a:p xmlns:a="http://schemas.openxmlformats.org/drawingml/2006/main">
            <a:pPr algn="l">
              <a:defRPr sz="2025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y entregan por separado.</a:t>
            </a:r>
          </a:p>
        </p:txBody>
      </p:sp>
      <p:sp>
        <p:nvSpPr>
          <p:cNvPr id="7" name="93.829">
            <a:extLst xmlns:a="http://schemas.openxmlformats.org/drawingml/2006/main">
              <a:ext uri="{FF2B5EF4-FFF2-40B4-BE49-F238E27FC236}">
                <a16:creationId xmlns:a16="http://schemas.microsoft.com/office/drawing/2014/main" id="{9D1456F8-AD7A-4FB3-BE75-DDCE109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5143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0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93.829</a:t>
            </a:r>
          </a:p>
        </p:txBody>
      </p:sp>
      <p:sp>
        <p:nvSpPr>
          <p:cNvPr id="8" name="bytes recuperados">
            <a:extLst xmlns:a="http://schemas.openxmlformats.org/drawingml/2006/main">
              <a:ext uri="{FF2B5EF4-FFF2-40B4-BE49-F238E27FC236}">
                <a16:creationId xmlns:a16="http://schemas.microsoft.com/office/drawing/2014/main" id="{0E2BCDFE-BABF-4A4E-9CBD-DA0B9D5C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F66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F666A"/>
                </a:solidFill>
                <a:latin typeface="Arial"/>
                <a:ea typeface="Arial"/>
                <a:cs typeface="Arial"/>
              </a:rPr>
              <a:t>bytes recuperados</a:t>
            </a:r>
          </a:p>
        </p:txBody>
      </p:sp>
      <p:sp>
        <p:nvSpPr>
          <p:cNvPr id="9" name="SHA-256 coincidente">
            <a:extLst xmlns:a="http://schemas.openxmlformats.org/drawingml/2006/main">
              <a:ext uri="{FF2B5EF4-FFF2-40B4-BE49-F238E27FC236}">
                <a16:creationId xmlns:a16="http://schemas.microsoft.com/office/drawing/2014/main" id="{70492EFB-4BA7-43D1-9171-AC963F7F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290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3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F83"/>
                </a:solidFill>
                <a:latin typeface="Arial"/>
                <a:ea typeface="Arial"/>
                <a:cs typeface="Arial"/>
              </a:rPr>
              <a:t>SHA-256 coincidente</a:t>
            </a:r>
          </a:p>
        </p:txBody>
      </p:sp>
      <p:sp>
        <p:nvSpPr>
          <p:cNvPr id="10" name="Descarga remota, archivo local&#10;y evidencia de au">
            <a:extLst xmlns:a="http://schemas.openxmlformats.org/drawingml/2006/main">
              <a:ext uri="{FF2B5EF4-FFF2-40B4-BE49-F238E27FC236}">
                <a16:creationId xmlns:a16="http://schemas.microsoft.com/office/drawing/2014/main" id="{4054AF9F-01A3-4A0E-807A-090C2053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Descarga remota, archivo local</a:t>
            </a:r>
          </a:p>
          <a:p xmlns:a="http://schemas.openxmlformats.org/drawingml/2006/main">
            <a:pPr algn="l">
              <a:defRPr sz="2100" b="0">
                <a:solidFill>
                  <a:srgbClr val="2623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232B"/>
                </a:solidFill>
                <a:latin typeface="Arial"/>
                <a:ea typeface="Arial"/>
                <a:cs typeface="Arial"/>
              </a:rPr>
              <a:t>y evidencia de auditoría.</a:t>
            </a:r>
          </a:p>
        </p:txBody>
      </p:sp>
      <p:sp>
        <p:nvSpPr>
          <p:cNvPr id="11" name="Restauración de prueba confirmada.">
            <a:extLst xmlns:a="http://schemas.openxmlformats.org/drawingml/2006/main">
              <a:ext uri="{FF2B5EF4-FFF2-40B4-BE49-F238E27FC236}">
                <a16:creationId xmlns:a16="http://schemas.microsoft.com/office/drawing/2014/main" id="{B59EA7A3-D698-4648-8A18-6844608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91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B0A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B0A24"/>
                </a:solidFill>
                <a:latin typeface="Arial"/>
                <a:ea typeface="Arial"/>
                <a:cs typeface="Arial"/>
              </a:rPr>
              <a:t>Restauración de prueba confirmada.</a:t>
            </a:r>
          </a:p>
        </p:txBody>
      </p:sp>
    </p:spTree>
    <p:extLst>
      <p:ext uri="{BB962C8B-B14F-4D97-AF65-F5344CB8AC3E}">
        <p14:creationId xmlns:p14="http://schemas.microsoft.com/office/powerpoint/2010/main" val="8869983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4D036-8B5A-49E7-94EB-5F9A76E7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D548204-16B8-42FF-829E-03D9175D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Apertura del software">
            <a:extLst xmlns:a="http://schemas.openxmlformats.org/drawingml/2006/main">
              <a:ext uri="{FF2B5EF4-FFF2-40B4-BE49-F238E27FC236}">
                <a16:creationId xmlns:a16="http://schemas.microsoft.com/office/drawing/2014/main" id="{66E0D99D-6781-4C88-9CC4-8C15857B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Apertura del software</a:t>
            </a:r>
          </a:p>
        </p:txBody>
      </p:sp>
      <p:sp>
        <p:nvSpPr>
          <p:cNvPr id="4" name="npm run&#10;start:demo">
            <a:extLst xmlns:a="http://schemas.openxmlformats.org/drawingml/2006/main">
              <a:ext uri="{FF2B5EF4-FFF2-40B4-BE49-F238E27FC236}">
                <a16:creationId xmlns:a16="http://schemas.microsoft.com/office/drawing/2014/main" id="{D407514C-72F5-4535-B753-5EDD91E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npm run</a:t>
            </a:r>
          </a:p>
          <a:p xmlns:a="http://schemas.openxmlformats.org/drawingml/2006/main">
            <a:pPr algn="l">
              <a:defRPr sz="465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start:demo</a:t>
            </a:r>
          </a:p>
        </p:txBody>
      </p:sp>
      <p:sp>
        <p:nvSpPr>
          <p:cNvPr id="5" name="http://127.0.0.1:8080">
            <a:extLst xmlns:a="http://schemas.openxmlformats.org/drawingml/2006/main">
              <a:ext uri="{FF2B5EF4-FFF2-40B4-BE49-F238E27FC236}">
                <a16:creationId xmlns:a16="http://schemas.microsoft.com/office/drawing/2014/main" id="{354891A7-38C4-4BB3-889B-00BD77A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http://127.0.0.1:8080</a:t>
            </a:r>
          </a:p>
        </p:txBody>
      </p:sp>
      <p:sp>
        <p:nvSpPr>
          <p:cNvPr id="6" name="Node.js 24.11+ (&lt;25)&#10;PostgreSQL 18 y ClamAV">
            <a:extLst xmlns:a="http://schemas.openxmlformats.org/drawingml/2006/main">
              <a:ext uri="{FF2B5EF4-FFF2-40B4-BE49-F238E27FC236}">
                <a16:creationId xmlns:a16="http://schemas.microsoft.com/office/drawing/2014/main" id="{FE42E095-732C-416D-8F29-144D274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Node.js 24.11+ (&lt;25)</a:t>
            </a:r>
          </a:p>
          <a:p xmlns:a="http://schemas.openxmlformats.org/drawingml/2006/main">
            <a:pPr algn="l">
              <a:defRPr sz="2175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PostgreSQL 18 y ClamAV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DBE87-7398-4DD0-B495-93F71DA5A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fdb6fa5ee4e76"/>
          <a:stretch xmlns:a="http://schemas.openxmlformats.org/drawingml/2006/main"/>
        </p:blipFill>
        <p:spPr>
          <a:xfrm xmlns:a="http://schemas.openxmlformats.org/drawingml/2006/main">
            <a:off x="6784975" y="1581150"/>
            <a:ext cx="5041900" cy="3781425"/>
          </a:xfrm>
          <a:prstGeom xmlns:a="http://schemas.openxmlformats.org/drawingml/2006/main" prst="rect">
            <a:avLst/>
          </a:prstGeom>
        </p:spPr>
      </p:pic>
      <p:sp>
        <p:nvSpPr>
          <p:cNvPr id="8" name="Cuentas y contraseñas:&#10;documento de accesos incl">
            <a:extLst xmlns:a="http://schemas.openxmlformats.org/drawingml/2006/main">
              <a:ext uri="{FF2B5EF4-FFF2-40B4-BE49-F238E27FC236}">
                <a16:creationId xmlns:a16="http://schemas.microsoft.com/office/drawing/2014/main" id="{C0FC48E6-CD36-42FE-8B67-040DC4C3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0547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Cuentas y contraseñas: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documento de accesos incluido.</a:t>
            </a:r>
          </a:p>
        </p:txBody>
      </p:sp>
    </p:spTree>
    <p:extLst>
      <p:ext uri="{BB962C8B-B14F-4D97-AF65-F5344CB8AC3E}">
        <p14:creationId xmlns:p14="http://schemas.microsoft.com/office/powerpoint/2010/main" val="12088725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4B0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B2F9F-6268-4876-9257-B39BABBF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A24"/>
          </a:solidFill>
          <a:ln xmlns:a="http://schemas.openxmlformats.org/drawingml/2006/main" w="0">
            <a:noFill/>
          </a:ln>
        </p:spPr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A05B377D-D596-41D1-B031-6E234F3B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CFE9C-8254-4B9C-83C1-7C95820B9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abae2bd104b4a"/>
          <a:srcRect xmlns:a="http://schemas.openxmlformats.org/drawingml/2006/main" l="24259" t="0" r="24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FCEA-Datasys">
            <a:extLst xmlns:a="http://schemas.openxmlformats.org/drawingml/2006/main">
              <a:ext uri="{FF2B5EF4-FFF2-40B4-BE49-F238E27FC236}">
                <a16:creationId xmlns:a16="http://schemas.microsoft.com/office/drawing/2014/main" id="{1661AACB-7E9F-445F-9E6B-42CF1C1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D3AE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3AE6B"/>
                </a:solidFill>
                <a:latin typeface="Arial"/>
                <a:ea typeface="Arial"/>
                <a:cs typeface="Arial"/>
              </a:rPr>
              <a:t>FCEA-Datasys</a:t>
            </a:r>
          </a:p>
        </p:txBody>
      </p:sp>
      <p:sp>
        <p:nvSpPr>
          <p:cNvPr id="5" name="Preguntas">
            <a:extLst xmlns:a="http://schemas.openxmlformats.org/drawingml/2006/main">
              <a:ext uri="{FF2B5EF4-FFF2-40B4-BE49-F238E27FC236}">
                <a16:creationId xmlns:a16="http://schemas.microsoft.com/office/drawing/2014/main" id="{AA8F4C10-AF98-4DEA-A416-C91F101C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  <p:sp>
        <p:nvSpPr>
          <p:cNvPr id="6" name="Catálogo bibliográfico&#10;con acceso controlado">
            <a:extLst xmlns:a="http://schemas.openxmlformats.org/drawingml/2006/main">
              <a:ext uri="{FF2B5EF4-FFF2-40B4-BE49-F238E27FC236}">
                <a16:creationId xmlns:a16="http://schemas.microsoft.com/office/drawing/2014/main" id="{0FDF9AC8-414A-4509-B180-B059CD66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76700"/>
            <a:ext cx="5810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Catálogo bibliográfico</a:t>
            </a:r>
          </a:p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acceso controlado</a:t>
            </a:r>
          </a:p>
        </p:txBody>
      </p:sp>
      <p:sp>
        <p:nvSpPr>
          <p:cNvPr id="7" name="Reportes, trazabilidad y recuperación">
            <a:extLst xmlns:a="http://schemas.openxmlformats.org/drawingml/2006/main">
              <a:ext uri="{FF2B5EF4-FFF2-40B4-BE49-F238E27FC236}">
                <a16:creationId xmlns:a16="http://schemas.microsoft.com/office/drawing/2014/main" id="{A121C41D-B917-4FC1-A91B-57C7988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5762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8C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C7D1"/>
                </a:solidFill>
                <a:latin typeface="Arial"/>
                <a:ea typeface="Arial"/>
                <a:cs typeface="Arial"/>
              </a:rPr>
              <a:t>Reportes, trazabilidad y recuperación</a:t>
            </a:r>
          </a:p>
        </p:txBody>
      </p:sp>
    </p:spTree>
    <p:extLst>
      <p:ext uri="{BB962C8B-B14F-4D97-AF65-F5344CB8AC3E}">
        <p14:creationId xmlns:p14="http://schemas.microsoft.com/office/powerpoint/2010/main" val="873391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2026-10-28T12:54:26.6470000Z</dcterms:created>
  <dcterms:modified xsi:type="dcterms:W3CDTF">2026-10-28T12:54:26.6470000Z</dcterms:modified>
</coreProperties>
</file>