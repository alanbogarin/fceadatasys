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e878f8db84656" /><Relationship Type="http://schemas.openxmlformats.org/officeDocument/2006/relationships/extended-properties" Target="/docProps/app.xml" Id="R7856e5dd3b87406b" /><Relationship Type="http://schemas.openxmlformats.org/officeDocument/2006/relationships/officeDocument" Target="/ppt/presentation.xml" Id="Re4400a11470f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7d03c180540b2"/>
  </p:sldMasterIdLst>
  <p:notesMasterIdLst>
    <p:notesMasterId xmlns:r="http://schemas.openxmlformats.org/officeDocument/2006/relationships" r:id="R1a54e02d1dd04050"/>
  </p:notesMasterIdLst>
  <p:sldIdLst>
    <p:sldId xmlns:r="http://schemas.openxmlformats.org/officeDocument/2006/relationships" id="256" r:id="R8a2416759e664f0e"/>
    <p:sldId xmlns:r="http://schemas.openxmlformats.org/officeDocument/2006/relationships" id="257" r:id="R4fc073f4dc9e41ed"/>
    <p:sldId xmlns:r="http://schemas.openxmlformats.org/officeDocument/2006/relationships" id="258" r:id="R2fb6b6919f294df1"/>
    <p:sldId xmlns:r="http://schemas.openxmlformats.org/officeDocument/2006/relationships" id="259" r:id="Rdf152892fef547db"/>
    <p:sldId xmlns:r="http://schemas.openxmlformats.org/officeDocument/2006/relationships" id="260" r:id="Rbb641d0a60e64480"/>
    <p:sldId xmlns:r="http://schemas.openxmlformats.org/officeDocument/2006/relationships" id="261" r:id="R5a467ac8a2ed4930"/>
    <p:sldId xmlns:r="http://schemas.openxmlformats.org/officeDocument/2006/relationships" id="262" r:id="R780eab864b0a4c9e"/>
    <p:sldId xmlns:r="http://schemas.openxmlformats.org/officeDocument/2006/relationships" id="263" r:id="Rb481310fee314856"/>
    <p:sldId xmlns:r="http://schemas.openxmlformats.org/officeDocument/2006/relationships" id="264" r:id="Ra09d82bd28d14f48"/>
    <p:sldId xmlns:r="http://schemas.openxmlformats.org/officeDocument/2006/relationships" id="265" r:id="R09b7e89c599d4035"/>
    <p:sldId xmlns:r="http://schemas.openxmlformats.org/officeDocument/2006/relationships" id="266" r:id="R5a35a98622394edf"/>
    <p:sldId xmlns:r="http://schemas.openxmlformats.org/officeDocument/2006/relationships" id="267" r:id="R52daebc3afac463c"/>
    <p:sldId xmlns:r="http://schemas.openxmlformats.org/officeDocument/2006/relationships" id="268" r:id="Rdeb9e42c54134bc9"/>
    <p:sldId xmlns:r="http://schemas.openxmlformats.org/officeDocument/2006/relationships" id="269" r:id="R1fd18c5f6e5b49c7"/>
    <p:sldId xmlns:r="http://schemas.openxmlformats.org/officeDocument/2006/relationships" id="270" r:id="R1f3364afa8cc4efa"/>
    <p:sldId xmlns:r="http://schemas.openxmlformats.org/officeDocument/2006/relationships" id="271" r:id="R8f62e1b2762240e2"/>
    <p:sldId xmlns:r="http://schemas.openxmlformats.org/officeDocument/2006/relationships" id="272" r:id="R6102c8a0fb2942d1"/>
    <p:sldId xmlns:r="http://schemas.openxmlformats.org/officeDocument/2006/relationships" id="273" r:id="Rda98cb4f2cca4b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dc05216a44081" /><Relationship Type="http://schemas.openxmlformats.org/officeDocument/2006/relationships/slideMaster" Target="/ppt/slideMasters/slideMaster1.xml" Id="Radd7d03c180540b2" /><Relationship Type="http://schemas.openxmlformats.org/officeDocument/2006/relationships/notesMaster" Target="/ppt/notesMasters/notesMaster1.xml" Id="R1a54e02d1dd04050" /><Relationship Type="http://schemas.openxmlformats.org/officeDocument/2006/relationships/presProps" Target="/ppt/presProps.xml" Id="Rb4068a57cd284054" /><Relationship Type="http://schemas.openxmlformats.org/officeDocument/2006/relationships/tableStyles" Target="/ppt/tableStyles.xml" Id="R5621d52eddc644f8" /><Relationship Type="http://schemas.openxmlformats.org/officeDocument/2006/relationships/slide" Target="/ppt/slides/slide1.xml" Id="R8a2416759e664f0e" /><Relationship Type="http://schemas.openxmlformats.org/officeDocument/2006/relationships/slide" Target="/ppt/slides/slide2.xml" Id="R4fc073f4dc9e41ed" /><Relationship Type="http://schemas.openxmlformats.org/officeDocument/2006/relationships/slide" Target="/ppt/slides/slide3.xml" Id="R2fb6b6919f294df1" /><Relationship Type="http://schemas.openxmlformats.org/officeDocument/2006/relationships/slide" Target="/ppt/slides/slide4.xml" Id="Rdf152892fef547db" /><Relationship Type="http://schemas.openxmlformats.org/officeDocument/2006/relationships/slide" Target="/ppt/slides/slide5.xml" Id="Rbb641d0a60e64480" /><Relationship Type="http://schemas.openxmlformats.org/officeDocument/2006/relationships/slide" Target="/ppt/slides/slide6.xml" Id="R5a467ac8a2ed4930" /><Relationship Type="http://schemas.openxmlformats.org/officeDocument/2006/relationships/slide" Target="/ppt/slides/slide7.xml" Id="R780eab864b0a4c9e" /><Relationship Type="http://schemas.openxmlformats.org/officeDocument/2006/relationships/slide" Target="/ppt/slides/slide8.xml" Id="Rb481310fee314856" /><Relationship Type="http://schemas.openxmlformats.org/officeDocument/2006/relationships/slide" Target="/ppt/slides/slide9.xml" Id="Ra09d82bd28d14f48" /><Relationship Type="http://schemas.openxmlformats.org/officeDocument/2006/relationships/slide" Target="/ppt/slides/slide10.xml" Id="R09b7e89c599d4035" /><Relationship Type="http://schemas.openxmlformats.org/officeDocument/2006/relationships/slide" Target="/ppt/slides/slide11.xml" Id="R5a35a98622394edf" /><Relationship Type="http://schemas.openxmlformats.org/officeDocument/2006/relationships/slide" Target="/ppt/slides/slide12.xml" Id="R52daebc3afac463c" /><Relationship Type="http://schemas.openxmlformats.org/officeDocument/2006/relationships/slide" Target="/ppt/slides/slide13.xml" Id="Rdeb9e42c54134bc9" /><Relationship Type="http://schemas.openxmlformats.org/officeDocument/2006/relationships/slide" Target="/ppt/slides/slide14.xml" Id="R1fd18c5f6e5b49c7" /><Relationship Type="http://schemas.openxmlformats.org/officeDocument/2006/relationships/slide" Target="/ppt/slides/slide15.xml" Id="R1f3364afa8cc4efa" /><Relationship Type="http://schemas.openxmlformats.org/officeDocument/2006/relationships/slide" Target="/ppt/slides/slide16.xml" Id="R8f62e1b2762240e2" /><Relationship Type="http://schemas.openxmlformats.org/officeDocument/2006/relationships/slide" Target="/ppt/slides/slide17.xml" Id="R6102c8a0fb2942d1" /><Relationship Type="http://schemas.openxmlformats.org/officeDocument/2006/relationships/slide" Target="/ppt/slides/slide18.xml" Id="Rda98cb4f2cca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9a15e3ff0b4a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4f8023309a426b" /><Relationship Type="http://schemas.openxmlformats.org/officeDocument/2006/relationships/notesMaster" Target="/ppt/notesMasters/notesMaster1.xml" Id="R2d532a31c2c0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e5ea5c0a8f4dcc" /><Relationship Type="http://schemas.openxmlformats.org/officeDocument/2006/relationships/notesMaster" Target="/ppt/notesMasters/notesMaster1.xml" Id="Rf8d701bb84ee4b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debf4b9554460e" /><Relationship Type="http://schemas.openxmlformats.org/officeDocument/2006/relationships/notesMaster" Target="/ppt/notesMasters/notesMaster1.xml" Id="R04bf1420449b4d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3ea71c486e43dd" /><Relationship Type="http://schemas.openxmlformats.org/officeDocument/2006/relationships/notesMaster" Target="/ppt/notesMasters/notesMaster1.xml" Id="Rc472eb9a9990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f5c018c9154594" /><Relationship Type="http://schemas.openxmlformats.org/officeDocument/2006/relationships/notesMaster" Target="/ppt/notesMasters/notesMaster1.xml" Id="R69a87194d3cc49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b5ec38080431a" /><Relationship Type="http://schemas.openxmlformats.org/officeDocument/2006/relationships/notesMaster" Target="/ppt/notesMasters/notesMaster1.xml" Id="R76f428bab4474f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025c1fcab0485f" /><Relationship Type="http://schemas.openxmlformats.org/officeDocument/2006/relationships/notesMaster" Target="/ppt/notesMasters/notesMaster1.xml" Id="R50f01174134d4f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980f8f65964a0f" /><Relationship Type="http://schemas.openxmlformats.org/officeDocument/2006/relationships/notesMaster" Target="/ppt/notesMasters/notesMaster1.xml" Id="R472771de71b54a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141a6add454af7" /><Relationship Type="http://schemas.openxmlformats.org/officeDocument/2006/relationships/notesMaster" Target="/ppt/notesMasters/notesMaster1.xml" Id="Rb5d627aa0a9945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e2afca30484e7f" /><Relationship Type="http://schemas.openxmlformats.org/officeDocument/2006/relationships/notesMaster" Target="/ppt/notesMasters/notesMaster1.xml" Id="R26444472f09d4f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0cbed10b364ab8" /><Relationship Type="http://schemas.openxmlformats.org/officeDocument/2006/relationships/notesMaster" Target="/ppt/notesMasters/notesMaster1.xml" Id="R9c6c85ef5f3341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6f5373a651417e" /><Relationship Type="http://schemas.openxmlformats.org/officeDocument/2006/relationships/notesMaster" Target="/ppt/notesMasters/notesMaster1.xml" Id="Re0b1ec3622c143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3092291c754dcf" /><Relationship Type="http://schemas.openxmlformats.org/officeDocument/2006/relationships/notesMaster" Target="/ppt/notesMasters/notesMaster1.xml" Id="Rc120931fef3941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3b5d549e7b468a" /><Relationship Type="http://schemas.openxmlformats.org/officeDocument/2006/relationships/notesMaster" Target="/ppt/notesMasters/notesMaster1.xml" Id="Rb58a99dba2794a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101ec4c7e84fc1" /><Relationship Type="http://schemas.openxmlformats.org/officeDocument/2006/relationships/notesMaster" Target="/ppt/notesMasters/notesMaster1.xml" Id="R23f518f622ac49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bcab9fc07c4a43" /><Relationship Type="http://schemas.openxmlformats.org/officeDocument/2006/relationships/notesMaster" Target="/ppt/notesMasters/notesMaster1.xml" Id="R813bb0a9d9b248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47a3792d1940fa" /><Relationship Type="http://schemas.openxmlformats.org/officeDocument/2006/relationships/notesMaster" Target="/ppt/notesMasters/notesMaster1.xml" Id="Re664416d6c8243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9a7aebeb004e22" /><Relationship Type="http://schemas.openxmlformats.org/officeDocument/2006/relationships/notesMaster" Target="/ppt/notesMasters/notesMaster1.xml" Id="Rd74165423ae349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AGENTS.md; primer avance; manual de usuario actualizado. Nombre técnico del repositorio: fceadatasys.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Integrantes y docentes según los avances y manuales entregados.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primer avance; AGENTS.md. El proceso de aprobación académica ocurre fuera del catálogo.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Redacción consistente con el Manual de Usuario, edición del 28/10/2026.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Manual de Usuario; primer avance; AGENTS.md. Los siete objetivos completos se incluyen en el documento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server/src/publications, attachments, catalogs;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server/src/users, security, auditing, backups; docs/PERMISSIONS.md. Los permisos son efectivos y configurables.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Versiones y uso según package.json y lockfiles, README.md y código actual. Herramientas adicionales en el documento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historial Git del 05 al 28/10/2026 y avances de septiembre. La referencia de planificación es una estimación retrospectiva, no una línea base original aprobada. CSV y PDF incluyen fechas, duración y dependencias.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server/src/publications/routes.ts; ApiPublicationForm.tsx; captura del Manual de Usuario actual. Presentar un caso con datos únicos y comparar el reporte con el código asignado.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server/src/users/routes.ts; UserPages.tsx; captura del Manual de Usuario. El reporte de esta transacción es la auditoría filtrada por USUARIO_CREADO.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Exportaciones reales desde la API demo del 28/10/2026. Muestra T1: INV-00008. Muestra T2: dos altas USUARIO_CREADO de la inicialización demo. Ver Reportes/ y Evidencias/reportes-verificados.json. No se crearon nuevos registros de negocio durante esta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suites del servidor, scripts y cliente ejecutadas en esta revisión. 245 + 115 + 22 + 13 = 395 aprobadas. No incluye una nueva ejecución de toda la batería de integración.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docs/BACKUPS.md; Evidencias/restauracion-actual.json. Restauración nueva en clúster temporal, por pg_restore --no-owner --no-acl --single-transaction. SHA-256: 741332863e155da07f8171f78295929742929963c0665deb849e46868b2bb1ce.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Evidencias/programacion-vigente.json y backup-automatico-actual.json. La tarea diaria tiene última salida 0 el 28/10/2026 a las 02:00:03. La copia programada incluida se toma de un registro completo del historial restaurado; no se afirma que sea el mismo intento de la última ejecución del Programador.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Evidencias/recuperacion-drive-actual.json y restauracion-actual.json. Descarga real de copia existente, permisos sin acceso público y hash coincidente con local y auditoría. El dump no incorpora adjuntos.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 y archivos de texto incluidos. La primera instalación requiere Node 24.11+ (&lt;25), PostgreSQL 18, ClamAV y acceso al registro npm. Producción requiere configuración propia de HTTPS, SMTP y Drive. La consigna general también pide video de hasta tres minutos; se entrega guion, video terminado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matriz de evaluación, revisión de entrega y evidencias incluidas. La defensa oral se debe ensayar. El video de la consigna general sigue pendiente de grabación.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413b3040e4d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db7e1db8148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0ce18bd9143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ba8911ce344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c2966ea8a4e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9d764986f4d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18A643-3DAD-4094-A318-4B4DE71FC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1D055B-1486-4B49-8338-23DBCDF800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BA2794-0360-4752-B3D3-2B84FE8225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0C2E01-F1E4-409C-BAA8-BCA9450A4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4BEF0A-EFE6-4560-BA75-9426B34923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85E759-455D-435B-9F40-776E6E223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0C319F-2ACD-4A84-A99C-778026060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A8A584-D301-4851-A515-8AA79717DD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F8E6AC-2106-479D-A455-71AFE4311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F8C84A-AB19-4F4F-891D-7BC38F64F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b2652dffb49fd" /><Relationship Type="http://schemas.openxmlformats.org/officeDocument/2006/relationships/slideLayout" Target="/ppt/slideLayouts/slideLayout1.xml" Id="Rdcadca4c75a64701" /><Relationship Type="http://schemas.openxmlformats.org/officeDocument/2006/relationships/slideLayout" Target="/ppt/slideLayouts/slideLayout2.xml" Id="Re1e0e48505a24de8" /><Relationship Type="http://schemas.openxmlformats.org/officeDocument/2006/relationships/slideLayout" Target="/ppt/slideLayouts/slideLayout3.xml" Id="R4777d982203346f5" /><Relationship Type="http://schemas.openxmlformats.org/officeDocument/2006/relationships/slideLayout" Target="/ppt/slideLayouts/slideLayout4.xml" Id="R555cdc162ba549b1" /><Relationship Type="http://schemas.openxmlformats.org/officeDocument/2006/relationships/slideLayout" Target="/ppt/slideLayouts/slideLayout5.xml" Id="R286b0766afe6414e" /><Relationship Type="http://schemas.openxmlformats.org/officeDocument/2006/relationships/slideLayout" Target="/ppt/slideLayouts/slideLayout6.xml" Id="Rfd7cd5817333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adca4c75a64701"/>
    <p:sldLayoutId xmlns:r="http://schemas.openxmlformats.org/officeDocument/2006/relationships" id="2147483650" r:id="Re1e0e48505a24de8"/>
    <p:sldLayoutId xmlns:r="http://schemas.openxmlformats.org/officeDocument/2006/relationships" id="2147483651" r:id="R4777d982203346f5"/>
    <p:sldLayoutId xmlns:r="http://schemas.openxmlformats.org/officeDocument/2006/relationships" id="2147483652" r:id="R555cdc162ba549b1"/>
    <p:sldLayoutId xmlns:r="http://schemas.openxmlformats.org/officeDocument/2006/relationships" id="2147483653" r:id="R286b0766afe6414e"/>
    <p:sldLayoutId xmlns:r="http://schemas.openxmlformats.org/officeDocument/2006/relationships" id="2147483654" r:id="Rfd7cd5817333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2c9b8499e4fed" /><Relationship Type="http://schemas.openxmlformats.org/officeDocument/2006/relationships/notesSlide" Target="/ppt/notesSlides/notesSlide1.xml" Id="R3a7d17958db943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0b0b5569b41a0" /><Relationship Type="http://schemas.openxmlformats.org/officeDocument/2006/relationships/notesSlide" Target="/ppt/notesSlides/notesSlide2.xml" Id="R8c04c02caada42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27235a0c945ab" /><Relationship Type="http://schemas.openxmlformats.org/officeDocument/2006/relationships/notesSlide" Target="/ppt/notesSlides/notesSlide3.xml" Id="R1968191edd8243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011c9ea3a4ffb" /><Relationship Type="http://schemas.openxmlformats.org/officeDocument/2006/relationships/notesSlide" Target="/ppt/notesSlides/notesSlide4.xml" Id="Rc1e365aac597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ed7530065400e" /><Relationship Type="http://schemas.openxmlformats.org/officeDocument/2006/relationships/notesSlide" Target="/ppt/notesSlides/notesSlide5.xml" Id="Raee3f59caf8940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e44daccc147d6" /><Relationship Type="http://schemas.openxmlformats.org/officeDocument/2006/relationships/notesSlide" Target="/ppt/notesSlides/notesSlide6.xml" Id="Rf14a58aaaf10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6c3e143194fa3" /><Relationship Type="http://schemas.openxmlformats.org/officeDocument/2006/relationships/notesSlide" Target="/ppt/notesSlides/notesSlide7.xml" Id="Rcd6350555a5344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27d70dcbb4532" /><Relationship Type="http://schemas.openxmlformats.org/officeDocument/2006/relationships/notesSlide" Target="/ppt/notesSlides/notesSlide8.xml" Id="R224ef1694f0242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62ebf50f542d4" /><Relationship Type="http://schemas.openxmlformats.org/officeDocument/2006/relationships/notesSlide" Target="/ppt/notesSlides/notesSlide9.xml" Id="R01de2c0b79344e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943c2dc5d4ffb" /><Relationship Type="http://schemas.openxmlformats.org/officeDocument/2006/relationships/image" Target="/ppt/media/image.png" Id="R18f0174f020a4cff" /><Relationship Type="http://schemas.openxmlformats.org/officeDocument/2006/relationships/notesSlide" Target="/ppt/notesSlides/notesSlide10.xml" Id="Rc747d8c9235144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2ba941d664ca6" /><Relationship Type="http://schemas.openxmlformats.org/officeDocument/2006/relationships/image" Target="/ppt/media/image2.png" Id="Rc9bdfdb8661740b7" /><Relationship Type="http://schemas.openxmlformats.org/officeDocument/2006/relationships/notesSlide" Target="/ppt/notesSlides/notesSlide11.xml" Id="R3c7d300ea9714e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46fe126624a6c" /><Relationship Type="http://schemas.openxmlformats.org/officeDocument/2006/relationships/notesSlide" Target="/ppt/notesSlides/notesSlide12.xml" Id="R494e81913c5244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7ea6cf3a14926" /><Relationship Type="http://schemas.openxmlformats.org/officeDocument/2006/relationships/notesSlide" Target="/ppt/notesSlides/notesSlide13.xml" Id="R7bfd00e9be0d40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1169138554fcb" /><Relationship Type="http://schemas.openxmlformats.org/officeDocument/2006/relationships/notesSlide" Target="/ppt/notesSlides/notesSlide14.xml" Id="R5a43cb4e1ba64e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f554d5b6446e3" /><Relationship Type="http://schemas.openxmlformats.org/officeDocument/2006/relationships/notesSlide" Target="/ppt/notesSlides/notesSlide15.xml" Id="Rd03085be203543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63700b73b43a6" /><Relationship Type="http://schemas.openxmlformats.org/officeDocument/2006/relationships/notesSlide" Target="/ppt/notesSlides/notesSlide16.xml" Id="R63a0bfaaff8a4c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efbb627874c4f" /><Relationship Type="http://schemas.openxmlformats.org/officeDocument/2006/relationships/notesSlide" Target="/ppt/notesSlides/notesSlide17.xml" Id="Re4a356ac8a3a4a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b45823fae4f8d" /><Relationship Type="http://schemas.openxmlformats.org/officeDocument/2006/relationships/notesSlide" Target="/ppt/notesSlides/notesSlide18.xml" Id="R5294f08bddb14b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CEA-Datasys">
            <a:extLst xmlns:a="http://schemas.openxmlformats.org/drawingml/2006/main">
              <a:ext uri="{FF2B5EF4-FFF2-40B4-BE49-F238E27FC236}">
                <a16:creationId xmlns:a16="http://schemas.microsoft.com/office/drawing/2014/main" id="{4CC23B1C-6763-40F9-A39A-F445D37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FCEA-Datasys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56459BD2-E747-44F6-B64F-5A82575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Desarrollo de un catálogo bibliográfico digital pa">
            <a:extLst xmlns:a="http://schemas.openxmlformats.org/drawingml/2006/main">
              <a:ext uri="{FF2B5EF4-FFF2-40B4-BE49-F238E27FC236}">
                <a16:creationId xmlns:a16="http://schemas.microsoft.com/office/drawing/2014/main" id="{65581CA3-8A70-4097-9297-573E4A9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Desarrollo de un catálogo bibliográfico digital para la FCEA-UNC</a:t>
            </a:r>
          </a:p>
        </p:txBody>
      </p:sp>
      <p:sp>
        <p:nvSpPr>
          <p:cNvPr id="4" name="Trabajo Práctico Final de Ingeniería de Software I">
            <a:extLst xmlns:a="http://schemas.openxmlformats.org/drawingml/2006/main">
              <a:ext uri="{FF2B5EF4-FFF2-40B4-BE49-F238E27FC236}">
                <a16:creationId xmlns:a16="http://schemas.microsoft.com/office/drawing/2014/main" id="{1C93BFBF-A9E1-4178-84F8-3DF00DEC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Trabajo Práctico Final de Ingeniería de Software I</a:t>
            </a:r>
          </a:p>
        </p:txBody>
      </p:sp>
      <p:sp>
        <p:nvSpPr>
          <p:cNvPr id="5" name="Universidad Nacional de Concepción&#10;Facultad de Cie">
            <a:extLst xmlns:a="http://schemas.openxmlformats.org/drawingml/2006/main">
              <a:ext uri="{FF2B5EF4-FFF2-40B4-BE49-F238E27FC236}">
                <a16:creationId xmlns:a16="http://schemas.microsoft.com/office/drawing/2014/main" id="{08AAE504-07CE-44D4-BDB5-F0D3252C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Universidad Nacional de Concepción</a:t>
            </a:r>
          </a:p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Facultad de Ciencias Económicas y Administrativas</a:t>
            </a:r>
          </a:p>
        </p:txBody>
      </p:sp>
      <p:sp>
        <p:nvSpPr>
          <p:cNvPr id="6" name="Octubre de 2026">
            <a:extLst xmlns:a="http://schemas.openxmlformats.org/drawingml/2006/main">
              <a:ext uri="{FF2B5EF4-FFF2-40B4-BE49-F238E27FC236}">
                <a16:creationId xmlns:a16="http://schemas.microsoft.com/office/drawing/2014/main" id="{397A4E34-1C62-4CEA-A055-150F5016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478326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quipo del proyecto">
            <a:extLst xmlns:a="http://schemas.openxmlformats.org/drawingml/2006/main">
              <a:ext uri="{FF2B5EF4-FFF2-40B4-BE49-F238E27FC236}">
                <a16:creationId xmlns:a16="http://schemas.microsoft.com/office/drawing/2014/main" id="{F14F8463-581A-43A2-B371-C4ED81BA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Equipo del proyecto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1929EB24-749D-49DF-97C7-EC2A11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Alan Gabriel Cabrera Villalba">
            <a:extLst xmlns:a="http://schemas.openxmlformats.org/drawingml/2006/main">
              <a:ext uri="{FF2B5EF4-FFF2-40B4-BE49-F238E27FC236}">
                <a16:creationId xmlns:a16="http://schemas.microsoft.com/office/drawing/2014/main" id="{31B67E08-E509-43F9-9986-2C117868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Alan Gabriel Cabrera Villalba</a:t>
            </a:r>
          </a:p>
        </p:txBody>
      </p:sp>
      <p:sp>
        <p:nvSpPr>
          <p:cNvPr id="4" name="Ivan Ramon Duarte Villar">
            <a:extLst xmlns:a="http://schemas.openxmlformats.org/drawingml/2006/main">
              <a:ext uri="{FF2B5EF4-FFF2-40B4-BE49-F238E27FC236}">
                <a16:creationId xmlns:a16="http://schemas.microsoft.com/office/drawing/2014/main" id="{5C092E25-8EF2-4418-BE23-E8A46CB6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Ivan Ramon Duarte Villar</a:t>
            </a:r>
          </a:p>
        </p:txBody>
      </p:sp>
      <p:sp>
        <p:nvSpPr>
          <p:cNvPr id="5" name="Fabrizio Ruben Larrosa Miranda">
            <a:extLst xmlns:a="http://schemas.openxmlformats.org/drawingml/2006/main">
              <a:ext uri="{FF2B5EF4-FFF2-40B4-BE49-F238E27FC236}">
                <a16:creationId xmlns:a16="http://schemas.microsoft.com/office/drawing/2014/main" id="{432ED125-E5EA-4A18-9C11-0DC8EA0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Fabrizio Ruben Larrosa Miranda</a:t>
            </a:r>
          </a:p>
        </p:txBody>
      </p:sp>
      <p:sp>
        <p:nvSpPr>
          <p:cNvPr id="6" name="Thiago Mathias Torres Montania">
            <a:extLst xmlns:a="http://schemas.openxmlformats.org/drawingml/2006/main">
              <a:ext uri="{FF2B5EF4-FFF2-40B4-BE49-F238E27FC236}">
                <a16:creationId xmlns:a16="http://schemas.microsoft.com/office/drawing/2014/main" id="{175596D6-109B-43EC-8B7F-3840FF46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Thiago Mathias Torres Montania</a:t>
            </a:r>
          </a:p>
        </p:txBody>
      </p:sp>
      <p:sp>
        <p:nvSpPr>
          <p:cNvPr id="7" name="Alan Amin Bogarín Godoy">
            <a:extLst xmlns:a="http://schemas.openxmlformats.org/drawingml/2006/main">
              <a:ext uri="{FF2B5EF4-FFF2-40B4-BE49-F238E27FC236}">
                <a16:creationId xmlns:a16="http://schemas.microsoft.com/office/drawing/2014/main" id="{5A248AE4-152D-405D-B5D8-6575C38D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Alan Amin Bogarín Godoy</a:t>
            </a:r>
          </a:p>
        </p:txBody>
      </p:sp>
      <p:sp>
        <p:nvSpPr>
          <p:cNvPr id="8" name="Edgar Ibañez Meza">
            <a:extLst xmlns:a="http://schemas.openxmlformats.org/drawingml/2006/main">
              <a:ext uri="{FF2B5EF4-FFF2-40B4-BE49-F238E27FC236}">
                <a16:creationId xmlns:a16="http://schemas.microsoft.com/office/drawing/2014/main" id="{AFFF073D-738F-46E7-AFB8-AE79436C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Edgar Ibañez Meza</a:t>
            </a:r>
          </a:p>
        </p:txBody>
      </p:sp>
      <p:sp>
        <p:nvSpPr>
          <p:cNvPr id="9" name="Docentes: María Del Rosario Zorrilla A. y Juan Ben">
            <a:extLst xmlns:a="http://schemas.openxmlformats.org/drawingml/2006/main">
              <a:ext uri="{FF2B5EF4-FFF2-40B4-BE49-F238E27FC236}">
                <a16:creationId xmlns:a16="http://schemas.microsoft.com/office/drawing/2014/main" id="{373229F7-7FB5-40BC-B523-1C08389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Docentes: María Del Rosario Zorrilla A. y Juan Benito Torres Báez</a:t>
            </a:r>
          </a:p>
        </p:txBody>
      </p:sp>
    </p:spTree>
    <p:extLst>
      <p:ext uri="{BB962C8B-B14F-4D97-AF65-F5344CB8AC3E}">
        <p14:creationId xmlns:p14="http://schemas.microsoft.com/office/powerpoint/2010/main" val="1162451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roblema y alcance">
            <a:extLst xmlns:a="http://schemas.openxmlformats.org/drawingml/2006/main">
              <a:ext uri="{FF2B5EF4-FFF2-40B4-BE49-F238E27FC236}">
                <a16:creationId xmlns:a16="http://schemas.microsoft.com/office/drawing/2014/main" id="{A2CCCB35-2711-456B-AC22-77AA1AA7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Problema y alcance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36283F92-90C4-4EAA-9A62-4D9AC7EB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La documentación dispersa dificulta localizar y pr">
            <a:extLst xmlns:a="http://schemas.openxmlformats.org/drawingml/2006/main">
              <a:ext uri="{FF2B5EF4-FFF2-40B4-BE49-F238E27FC236}">
                <a16:creationId xmlns:a16="http://schemas.microsoft.com/office/drawing/2014/main" id="{1F41F3A8-E405-4AA4-8E8E-B7B3022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La documentación dispersa dificulta localizar y preservar la producción académica.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BF94F39-D111-4F87-A6CC-1FD701C5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atálogo institucional a cargo de Investigación, B">
            <a:extLst xmlns:a="http://schemas.openxmlformats.org/drawingml/2006/main">
              <a:ext uri="{FF2B5EF4-FFF2-40B4-BE49-F238E27FC236}">
                <a16:creationId xmlns:a16="http://schemas.microsoft.com/office/drawing/2014/main" id="{B953540B-5995-4A22-BE25-239C7BA7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9753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Catálogo institucional a cargo de Investigación, Biblioteca y TIC.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AB62D093-E9DC-468C-898C-FF10ED7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Metadatos, archivos privados y referencias externa">
            <a:extLst xmlns:a="http://schemas.openxmlformats.org/drawingml/2006/main">
              <a:ext uri="{FF2B5EF4-FFF2-40B4-BE49-F238E27FC236}">
                <a16:creationId xmlns:a16="http://schemas.microsoft.com/office/drawing/2014/main" id="{839989B4-E476-46CF-B191-377B65F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43375"/>
            <a:ext cx="9753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Metadatos, archivos privados y referencias externas con acceso controlado.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1305DB7D-2415-409E-8FE6-146C149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gistro de trabajos previamente aprobados por la ">
            <a:extLst xmlns:a="http://schemas.openxmlformats.org/drawingml/2006/main">
              <a:ext uri="{FF2B5EF4-FFF2-40B4-BE49-F238E27FC236}">
                <a16:creationId xmlns:a16="http://schemas.microsoft.com/office/drawing/2014/main" id="{D31FD9FB-1C9E-4F85-9F3E-141CA5F0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9753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Registro de trabajos previamente aprobados por la institución.</a:t>
            </a:r>
          </a:p>
        </p:txBody>
      </p:sp>
    </p:spTree>
    <p:extLst>
      <p:ext uri="{BB962C8B-B14F-4D97-AF65-F5344CB8AC3E}">
        <p14:creationId xmlns:p14="http://schemas.microsoft.com/office/powerpoint/2010/main" val="1585073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bjetivo general">
            <a:extLst xmlns:a="http://schemas.openxmlformats.org/drawingml/2006/main">
              <a:ext uri="{FF2B5EF4-FFF2-40B4-BE49-F238E27FC236}">
                <a16:creationId xmlns:a16="http://schemas.microsoft.com/office/drawing/2014/main" id="{8FF21ECA-B65A-4130-8E73-F00B9235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1208D52-4057-424A-8094-EA48B6EF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Organizar, preservar y facilitar la consulta de lo">
            <a:extLst xmlns:a="http://schemas.openxmlformats.org/drawingml/2006/main">
              <a:ext uri="{FF2B5EF4-FFF2-40B4-BE49-F238E27FC236}">
                <a16:creationId xmlns:a16="http://schemas.microsoft.com/office/drawing/2014/main" id="{6F41F5E2-22C9-4DFD-BE00-B0D5CDE1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Organizar, preservar y facilitar la consulta de los metadatos de la producción académica y científica aprobada de la FCEA-UNC mediante un catálogo bibliográfico digital con acceso controlado.</a:t>
            </a:r>
          </a:p>
        </p:txBody>
      </p:sp>
      <p:sp>
        <p:nvSpPr>
          <p:cNvPr id="4" name="El software reúne la información bibliográfica y f">
            <a:extLst xmlns:a="http://schemas.openxmlformats.org/drawingml/2006/main">
              <a:ext uri="{FF2B5EF4-FFF2-40B4-BE49-F238E27FC236}">
                <a16:creationId xmlns:a16="http://schemas.microsoft.com/office/drawing/2014/main" id="{00F5C603-2C03-4FF1-AB0D-32B7669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El software reúne la información bibliográfica y facilita su consulta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2053566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bjetivos específicos">
            <a:extLst xmlns:a="http://schemas.openxmlformats.org/drawingml/2006/main">
              <a:ext uri="{FF2B5EF4-FFF2-40B4-BE49-F238E27FC236}">
                <a16:creationId xmlns:a16="http://schemas.microsoft.com/office/drawing/2014/main" id="{F2637B07-DD0D-4AB0-B088-76963FD0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Objetivos específicos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3EF5D4A-794F-4D99-9B84-76B2233B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72F55AA-1CD9-49B1-9827-F0A14B36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gistrar trabajos con autoría, orientación y clas">
            <a:extLst xmlns:a="http://schemas.openxmlformats.org/drawingml/2006/main">
              <a:ext uri="{FF2B5EF4-FFF2-40B4-BE49-F238E27FC236}">
                <a16:creationId xmlns:a16="http://schemas.microsoft.com/office/drawing/2014/main" id="{AF459CA3-B5BD-43B9-A4A1-8AAF483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19250"/>
            <a:ext cx="994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Registrar trabajos con autoría, orientación y clasificación académica.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2F8D006-C6FA-442C-8C96-3A1C996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utilizar personas y catálogos y facilitar la bús">
            <a:extLst xmlns:a="http://schemas.openxmlformats.org/drawingml/2006/main">
              <a:ext uri="{FF2B5EF4-FFF2-40B4-BE49-F238E27FC236}">
                <a16:creationId xmlns:a16="http://schemas.microsoft.com/office/drawing/2014/main" id="{BED453C6-8C0C-42B3-89C0-2CCBB0C3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994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Reutilizar personas y catálogos y facilitar la búsqueda.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5EC3AAA7-50DA-47B0-9DB7-53AA91F7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Controlar cuentas, sesiones, permisos y archivos.">
            <a:extLst xmlns:a="http://schemas.openxmlformats.org/drawingml/2006/main">
              <a:ext uri="{FF2B5EF4-FFF2-40B4-BE49-F238E27FC236}">
                <a16:creationId xmlns:a16="http://schemas.microsoft.com/office/drawing/2014/main" id="{C2C25D57-C85B-496A-BA63-A1787348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994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Controlar cuentas, sesiones, permisos y archivos.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E31B137F-3008-4C55-8226-31FEBEB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Emitir reportes y mantener la trazabilidad de oper">
            <a:extLst xmlns:a="http://schemas.openxmlformats.org/drawingml/2006/main">
              <a:ext uri="{FF2B5EF4-FFF2-40B4-BE49-F238E27FC236}">
                <a16:creationId xmlns:a16="http://schemas.microsoft.com/office/drawing/2014/main" id="{4A8B5B4F-B852-49D1-8B1B-C0F4D70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33850"/>
            <a:ext cx="994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Emitir reportes y mantener la trazabilidad de operaciones.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2C563CC6-7979-401A-A0D7-075A69C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Respaldar la base y facilitar su recuperación.">
            <a:extLst xmlns:a="http://schemas.openxmlformats.org/drawingml/2006/main">
              <a:ext uri="{FF2B5EF4-FFF2-40B4-BE49-F238E27FC236}">
                <a16:creationId xmlns:a16="http://schemas.microsoft.com/office/drawing/2014/main" id="{00B25707-7C17-4594-9BED-DC202E46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994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Respaldar la base y facilitar su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926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querimientos de catálogo">
            <a:extLst xmlns:a="http://schemas.openxmlformats.org/drawingml/2006/main">
              <a:ext uri="{FF2B5EF4-FFF2-40B4-BE49-F238E27FC236}">
                <a16:creationId xmlns:a16="http://schemas.microsoft.com/office/drawing/2014/main" id="{65D91906-9C9E-4EF9-9088-B2DADBB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Requerimientos de catálogo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2A16B0D6-F620-444C-A553-432D413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C65E8DC-1483-4719-854E-EA01DB8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rear, consultar, modificar e inactivar publicacio">
            <a:extLst xmlns:a="http://schemas.openxmlformats.org/drawingml/2006/main">
              <a:ext uri="{FF2B5EF4-FFF2-40B4-BE49-F238E27FC236}">
                <a16:creationId xmlns:a16="http://schemas.microsoft.com/office/drawing/2014/main" id="{BC71DE65-1060-4C2C-AF6D-D8E0499E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Crear, consultar, modificar e inactivar publicaciones.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65F1938C-2B91-4C94-B9C2-78782483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Vincular varios autores y tutores, sin repetir per">
            <a:extLst xmlns:a="http://schemas.openxmlformats.org/drawingml/2006/main">
              <a:ext uri="{FF2B5EF4-FFF2-40B4-BE49-F238E27FC236}">
                <a16:creationId xmlns:a16="http://schemas.microsoft.com/office/drawing/2014/main" id="{A71BD7E2-CE65-498E-A167-B028BCF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Vincular varios autores y tutores, sin repetir personas.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C4A32E15-519B-4F83-9A9C-A432D56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Buscar por texto y combinar filtros bibliográficos">
            <a:extLst xmlns:a="http://schemas.openxmlformats.org/drawingml/2006/main">
              <a:ext uri="{FF2B5EF4-FFF2-40B4-BE49-F238E27FC236}">
                <a16:creationId xmlns:a16="http://schemas.microsoft.com/office/drawing/2014/main" id="{0F7A3585-353C-4AF2-A4A9-6804130B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Buscar por texto y combinar filtros bibliográficos.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E1F106AF-CFE5-46FD-8FBF-659C0564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Validar resumen de hasta 300 palabras, según parám">
            <a:extLst xmlns:a="http://schemas.openxmlformats.org/drawingml/2006/main">
              <a:ext uri="{FF2B5EF4-FFF2-40B4-BE49-F238E27FC236}">
                <a16:creationId xmlns:a16="http://schemas.microsoft.com/office/drawing/2014/main" id="{2CEAFF5C-E967-4469-814B-5EF7406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Validar resumen de hasta 300 palabras, según parámetro vigente.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A0E8F018-2327-426C-A6DE-C562845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Rechazar duplicados y analizar los adjuntos con Cl">
            <a:extLst xmlns:a="http://schemas.openxmlformats.org/drawingml/2006/main">
              <a:ext uri="{FF2B5EF4-FFF2-40B4-BE49-F238E27FC236}">
                <a16:creationId xmlns:a16="http://schemas.microsoft.com/office/drawing/2014/main" id="{0298F58F-A390-45D0-B517-DC4E818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05375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Rechazar duplicados y analizar los adjuntos con ClamAV.</a:t>
            </a:r>
          </a:p>
        </p:txBody>
      </p:sp>
    </p:spTree>
    <p:extLst>
      <p:ext uri="{BB962C8B-B14F-4D97-AF65-F5344CB8AC3E}">
        <p14:creationId xmlns:p14="http://schemas.microsoft.com/office/powerpoint/2010/main" val="284394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querimientos de administración">
            <a:extLst xmlns:a="http://schemas.openxmlformats.org/drawingml/2006/main">
              <a:ext uri="{FF2B5EF4-FFF2-40B4-BE49-F238E27FC236}">
                <a16:creationId xmlns:a16="http://schemas.microsoft.com/office/drawing/2014/main" id="{B2CBAF49-EB11-44E6-AE6E-E317F7BD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Requerimientos de administración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57BAAE8E-4DA3-4694-ADA7-0B6E306B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D1760179-077E-4C38-B50E-878C4E4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Gestionar cuentas, roles y excepciones de permisos">
            <a:extLst xmlns:a="http://schemas.openxmlformats.org/drawingml/2006/main">
              <a:ext uri="{FF2B5EF4-FFF2-40B4-BE49-F238E27FC236}">
                <a16:creationId xmlns:a16="http://schemas.microsoft.com/office/drawing/2014/main" id="{95E21B98-85BE-4532-835F-BD53975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Gestionar cuentas, roles y excepciones de permisos.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EBD7F87C-0AA4-4B4A-A952-A9DB4B8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loquear cinco minutos tras tres fallos consecutiv">
            <a:extLst xmlns:a="http://schemas.openxmlformats.org/drawingml/2006/main">
              <a:ext uri="{FF2B5EF4-FFF2-40B4-BE49-F238E27FC236}">
                <a16:creationId xmlns:a16="http://schemas.microsoft.com/office/drawing/2014/main" id="{F545DC4B-85C7-414B-A93B-7C5A57F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Bloquear cinco minutos tras tres fallos consecutivos.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79805BF2-4BC1-48C5-90B8-FB62937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Exportar reportes PDF y Excel y auditoría inmutabl">
            <a:extLst xmlns:a="http://schemas.openxmlformats.org/drawingml/2006/main">
              <a:ext uri="{FF2B5EF4-FFF2-40B4-BE49-F238E27FC236}">
                <a16:creationId xmlns:a16="http://schemas.microsoft.com/office/drawing/2014/main" id="{97C04FB3-D763-43F2-A922-5CF7F4C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Exportar reportes PDF y Excel y auditoría inmutable.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6C0944B9-878A-46D0-B306-C4DD049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Cancelar una operación protegida si no confirma su">
            <a:extLst xmlns:a="http://schemas.openxmlformats.org/drawingml/2006/main">
              <a:ext uri="{FF2B5EF4-FFF2-40B4-BE49-F238E27FC236}">
                <a16:creationId xmlns:a16="http://schemas.microsoft.com/office/drawing/2014/main" id="{D9DDD964-618D-4ACF-88B8-E04EF255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Cancelar una operación protegida si no confirma su auditoría.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A612128C-FE21-4293-8EED-06455CCD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Crear copias manuales, programadas y en Google Dri">
            <a:extLst xmlns:a="http://schemas.openxmlformats.org/drawingml/2006/main">
              <a:ext uri="{FF2B5EF4-FFF2-40B4-BE49-F238E27FC236}">
                <a16:creationId xmlns:a16="http://schemas.microsoft.com/office/drawing/2014/main" id="{68E096D5-3123-4CB8-A125-B11770D5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05375"/>
            <a:ext cx="994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Crear copias manuales, programadas y en Google Drive.</a:t>
            </a:r>
          </a:p>
        </p:txBody>
      </p:sp>
    </p:spTree>
    <p:extLst>
      <p:ext uri="{BB962C8B-B14F-4D97-AF65-F5344CB8AC3E}">
        <p14:creationId xmlns:p14="http://schemas.microsoft.com/office/powerpoint/2010/main" val="740687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rramientas de desarrollo">
            <a:extLst xmlns:a="http://schemas.openxmlformats.org/drawingml/2006/main">
              <a:ext uri="{FF2B5EF4-FFF2-40B4-BE49-F238E27FC236}">
                <a16:creationId xmlns:a16="http://schemas.microsoft.com/office/drawing/2014/main" id="{FD93016A-CB61-45F1-8AF4-832216AB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Herramientas de desarrollo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D958CE33-97D2-494C-B04A-AAA6E99E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2E798-013B-4EF6-B93C-994CD66E070F}"/>
              </a:ext>
            </a:extLst>
          </p:cNvPr>
          <p:cNvGraphicFramePr/>
          <p:nvPr/>
        </p:nvGraphicFramePr>
        <p:xfrm>
          <a:off xmlns:a="http://schemas.openxmlformats.org/drawingml/2006/main" x="685800" y="1609725"/>
          <a:ext xmlns:a="http://schemas.openxmlformats.org/drawingml/2006/main" cx="10810875" cy="4371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810375"/>
              </a:tblGrid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Herramienta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D5C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Función y elección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D5C"/>
                    </a:solidFill>
                  </a:tcPr>
                </a:tc>
              </a:tr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React, TypeScript, Vite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Interfaz por componentes y contratos tipados.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Node.js 24 y Fastify 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API y lanzador para Windows y Linux.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PostgreSQL 18 y Prisma 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Integridad relacional, migraciones y FTS.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ClamAV y Argon2id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Análisis de archivos y hash de contraseñas.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PDFKit y ExcelJS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Reportes en el servidor sin Office.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pg_dump y Drive API v3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Copias verificadas locales y remotas.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2222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ronograma de trabajo">
            <a:extLst xmlns:a="http://schemas.openxmlformats.org/drawingml/2006/main">
              <a:ext uri="{FF2B5EF4-FFF2-40B4-BE49-F238E27FC236}">
                <a16:creationId xmlns:a16="http://schemas.microsoft.com/office/drawing/2014/main" id="{14FC3B14-1E4B-42F2-B7C9-C60F41E5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Cronograma de trabajo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E2219281-FB46-4D0D-9F42-281FE67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05 oct">
            <a:extLst xmlns:a="http://schemas.openxmlformats.org/drawingml/2006/main">
              <a:ext uri="{FF2B5EF4-FFF2-40B4-BE49-F238E27FC236}">
                <a16:creationId xmlns:a16="http://schemas.microsoft.com/office/drawing/2014/main" id="{A244A569-6E0B-4F6F-9E32-21BEF4A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05 oct</a:t>
            </a:r>
          </a:p>
        </p:txBody>
      </p:sp>
      <p:sp>
        <p:nvSpPr>
          <p:cNvPr id="4" name="10 oct">
            <a:extLst xmlns:a="http://schemas.openxmlformats.org/drawingml/2006/main">
              <a:ext uri="{FF2B5EF4-FFF2-40B4-BE49-F238E27FC236}">
                <a16:creationId xmlns:a16="http://schemas.microsoft.com/office/drawing/2014/main" id="{25199213-8CC9-485C-8D58-C1D36ACF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10 oct</a:t>
            </a:r>
          </a:p>
        </p:txBody>
      </p:sp>
      <p:sp>
        <p:nvSpPr>
          <p:cNvPr id="5" name="15 oct">
            <a:extLst xmlns:a="http://schemas.openxmlformats.org/drawingml/2006/main">
              <a:ext uri="{FF2B5EF4-FFF2-40B4-BE49-F238E27FC236}">
                <a16:creationId xmlns:a16="http://schemas.microsoft.com/office/drawing/2014/main" id="{3CC7E6B9-89B0-4E7B-A3D4-71195396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04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15 oct</a:t>
            </a:r>
          </a:p>
        </p:txBody>
      </p:sp>
      <p:sp>
        <p:nvSpPr>
          <p:cNvPr id="6" name="20 oct">
            <a:extLst xmlns:a="http://schemas.openxmlformats.org/drawingml/2006/main">
              <a:ext uri="{FF2B5EF4-FFF2-40B4-BE49-F238E27FC236}">
                <a16:creationId xmlns:a16="http://schemas.microsoft.com/office/drawing/2014/main" id="{A69618EF-195B-4E8D-A547-5B07C71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20 oct</a:t>
            </a:r>
          </a:p>
        </p:txBody>
      </p:sp>
      <p:sp>
        <p:nvSpPr>
          <p:cNvPr id="7" name="25 oct">
            <a:extLst xmlns:a="http://schemas.openxmlformats.org/drawingml/2006/main">
              <a:ext uri="{FF2B5EF4-FFF2-40B4-BE49-F238E27FC236}">
                <a16:creationId xmlns:a16="http://schemas.microsoft.com/office/drawing/2014/main" id="{B51CBBF1-4B07-4EF9-B294-84C44191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04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25 oct</a:t>
            </a:r>
          </a:p>
        </p:txBody>
      </p:sp>
      <p:sp>
        <p:nvSpPr>
          <p:cNvPr id="8" name="28 oct">
            <a:extLst xmlns:a="http://schemas.openxmlformats.org/drawingml/2006/main">
              <a:ext uri="{FF2B5EF4-FFF2-40B4-BE49-F238E27FC236}">
                <a16:creationId xmlns:a16="http://schemas.microsoft.com/office/drawing/2014/main" id="{4258FE9D-5E4C-40BF-ACAF-CDCBFEF9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04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28 oct</a:t>
            </a:r>
          </a:p>
        </p:txBody>
      </p:sp>
      <p:sp>
        <p:nvSpPr>
          <p:cNvPr id="9" name="T1  Arquitectura y preparación">
            <a:extLst xmlns:a="http://schemas.openxmlformats.org/drawingml/2006/main">
              <a:ext uri="{FF2B5EF4-FFF2-40B4-BE49-F238E27FC236}">
                <a16:creationId xmlns:a16="http://schemas.microsoft.com/office/drawing/2014/main" id="{F9013D02-7EE1-4AE4-9F46-6B1C7A9A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T1  Arquitectura y preparación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CAB6F-0A27-42AD-BC38-7A78A230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F6B8D-931F-4B57-8880-B5040C0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12" name="T2  Cliente y formularios">
            <a:extLst xmlns:a="http://schemas.openxmlformats.org/drawingml/2006/main">
              <a:ext uri="{FF2B5EF4-FFF2-40B4-BE49-F238E27FC236}">
                <a16:creationId xmlns:a16="http://schemas.microsoft.com/office/drawing/2014/main" id="{DBDDA87C-F96A-4FC5-AB79-687ECFA2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T2  Cliente y formularios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99FA2-36AE-43BE-ACF9-004C0B2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C7036-425A-433F-B755-A510CD2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1428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15" name="T3  API, datos y seguridad">
            <a:extLst xmlns:a="http://schemas.openxmlformats.org/drawingml/2006/main">
              <a:ext uri="{FF2B5EF4-FFF2-40B4-BE49-F238E27FC236}">
                <a16:creationId xmlns:a16="http://schemas.microsoft.com/office/drawing/2014/main" id="{028958FD-B9B2-42B1-A7A4-79CA6B4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T3  API, datos y seguridad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0C821-FE7D-43AF-BDFD-9D1FF28C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857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CBF6C-2EB8-4BC2-91B1-CEE3F58D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857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18" name="T4  Integración cliente/API">
            <a:extLst xmlns:a="http://schemas.openxmlformats.org/drawingml/2006/main">
              <a:ext uri="{FF2B5EF4-FFF2-40B4-BE49-F238E27FC236}">
                <a16:creationId xmlns:a16="http://schemas.microsoft.com/office/drawing/2014/main" id="{7EC56C9A-44BD-4F04-B1B3-80998CD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T4  Integración cliente/API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839A3-4CC4-4325-B60B-ACB82E06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5757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6CC2B-6B7A-4FC7-8259-A56726F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21" name="T5  Instalación y reportes">
            <a:extLst xmlns:a="http://schemas.openxmlformats.org/drawingml/2006/main">
              <a:ext uri="{FF2B5EF4-FFF2-40B4-BE49-F238E27FC236}">
                <a16:creationId xmlns:a16="http://schemas.microsoft.com/office/drawing/2014/main" id="{3B987511-D327-4C0C-A996-3B90AFC6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T5  Instalación y reportes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7886B-0CE8-4F7D-9A56-A028A370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1143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F5068-8CF8-46B1-8604-170AC70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1143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24" name="T6  Permisos, backup y Drive">
            <a:extLst xmlns:a="http://schemas.openxmlformats.org/drawingml/2006/main">
              <a:ext uri="{FF2B5EF4-FFF2-40B4-BE49-F238E27FC236}">
                <a16:creationId xmlns:a16="http://schemas.microsoft.com/office/drawing/2014/main" id="{38BAA3CF-E20B-4249-B55F-B5EED31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T6  Permisos, backup y Drive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444D0-537A-4741-8713-21F408D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91025"/>
            <a:ext cx="1143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245513-C37E-4BBE-9AD1-A0D0E328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43425"/>
            <a:ext cx="857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27" name="T7  Documentación y revisión">
            <a:extLst xmlns:a="http://schemas.openxmlformats.org/drawingml/2006/main">
              <a:ext uri="{FF2B5EF4-FFF2-40B4-BE49-F238E27FC236}">
                <a16:creationId xmlns:a16="http://schemas.microsoft.com/office/drawing/2014/main" id="{BBF8BD7A-A202-4E3B-95C2-925D9DBC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D5C"/>
                </a:solidFill>
                <a:latin typeface="Arial"/>
                <a:ea typeface="Arial"/>
                <a:cs typeface="Arial"/>
              </a:rPr>
              <a:t>T7  Documentación y revisión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9CCCE-D72D-49DB-8A90-9C8D096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57750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60F97-9755-40A7-B7CA-EF4BC55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10150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30" name="Gris: referencia estimada. Verde: intervalos de hi">
            <a:extLst xmlns:a="http://schemas.openxmlformats.org/drawingml/2006/main">
              <a:ext uri="{FF2B5EF4-FFF2-40B4-BE49-F238E27FC236}">
                <a16:creationId xmlns:a16="http://schemas.microsoft.com/office/drawing/2014/main" id="{50BEAB74-4783-4038-A7F7-C9848B3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Gris: referencia estimada. Verde: intervalos de hitos Git.</a:t>
            </a:r>
          </a:p>
        </p:txBody>
      </p:sp>
      <p:sp>
        <p:nvSpPr>
          <p:cNvPr id="31" name="No se localizó un plan inicial aprobado. Las barra">
            <a:extLst xmlns:a="http://schemas.openxmlformats.org/drawingml/2006/main">
              <a:ext uri="{FF2B5EF4-FFF2-40B4-BE49-F238E27FC236}">
                <a16:creationId xmlns:a16="http://schemas.microsoft.com/office/drawing/2014/main" id="{AD4D9C7D-8A1E-4B19-9A77-26B93337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No se localizó un plan inicial aprobado. Las barras no representan horas trabajadas.</a:t>
            </a:r>
          </a:p>
        </p:txBody>
      </p:sp>
    </p:spTree>
    <p:extLst>
      <p:ext uri="{BB962C8B-B14F-4D97-AF65-F5344CB8AC3E}">
        <p14:creationId xmlns:p14="http://schemas.microsoft.com/office/powerpoint/2010/main" val="1925119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ransacción 1: registro de publicación">
            <a:extLst xmlns:a="http://schemas.openxmlformats.org/drawingml/2006/main">
              <a:ext uri="{FF2B5EF4-FFF2-40B4-BE49-F238E27FC236}">
                <a16:creationId xmlns:a16="http://schemas.microsoft.com/office/drawing/2014/main" id="{0C394C97-EE1B-41D9-B926-BC5C46F6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Transacción 1: registro de publicación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0744ABF0-E56E-40EB-84FF-BF81F00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340F6F1-7151-4000-9F6C-346B2F27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ompletar metadatos y relaciones.">
            <a:extLst xmlns:a="http://schemas.openxmlformats.org/drawingml/2006/main">
              <a:ext uri="{FF2B5EF4-FFF2-40B4-BE49-F238E27FC236}">
                <a16:creationId xmlns:a16="http://schemas.microsoft.com/office/drawing/2014/main" id="{B1155B97-9DBE-480B-B63C-8DBFD89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Completar metadatos y relaciones.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E33CC7D-64DA-4E45-8B5A-77626E9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Cargar PDF o indicar URL.">
            <a:extLst xmlns:a="http://schemas.openxmlformats.org/drawingml/2006/main">
              <a:ext uri="{FF2B5EF4-FFF2-40B4-BE49-F238E27FC236}">
                <a16:creationId xmlns:a16="http://schemas.microsoft.com/office/drawing/2014/main" id="{EC751BC4-423C-4EBD-892D-A991A75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95575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Cargar PDF o indicar URL.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AC49AE99-5147-4287-AF75-039593F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Validar, guardar y recargar.">
            <a:extLst xmlns:a="http://schemas.openxmlformats.org/drawingml/2006/main">
              <a:ext uri="{FF2B5EF4-FFF2-40B4-BE49-F238E27FC236}">
                <a16:creationId xmlns:a16="http://schemas.microsoft.com/office/drawing/2014/main" id="{5437A909-BC8A-4819-B6A5-7A85CBCF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Validar, guardar y recargar.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FB06306C-2206-4F2B-9FCC-A670A19F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Comprobar el código y sus datos.">
            <a:extLst xmlns:a="http://schemas.openxmlformats.org/drawingml/2006/main">
              <a:ext uri="{FF2B5EF4-FFF2-40B4-BE49-F238E27FC236}">
                <a16:creationId xmlns:a16="http://schemas.microsoft.com/office/drawing/2014/main" id="{B8241E16-292E-4165-A24E-723934F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Comprobar el código y sus datos.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A6A23-2061-47B5-9771-7C7AC751E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0174f020a4cff"/>
          <a:stretch xmlns:a="http://schemas.openxmlformats.org/drawingml/2006/main"/>
        </p:blipFill>
        <p:spPr>
          <a:xfrm xmlns:a="http://schemas.openxmlformats.org/drawingml/2006/main">
            <a:off x="5786438" y="1619250"/>
            <a:ext cx="5524500" cy="4143375"/>
          </a:xfrm>
          <a:prstGeom xmlns:a="http://schemas.openxmlformats.org/drawingml/2006/main" prst="rect">
            <a:avLst/>
          </a:prstGeom>
        </p:spPr>
      </p:pic>
      <p:sp>
        <p:nvSpPr>
          <p:cNvPr id="12" name="Resultado: publicación, relaciones y auditoría con">
            <a:extLst xmlns:a="http://schemas.openxmlformats.org/drawingml/2006/main">
              <a:ext uri="{FF2B5EF4-FFF2-40B4-BE49-F238E27FC236}">
                <a16:creationId xmlns:a16="http://schemas.microsoft.com/office/drawing/2014/main" id="{AD02CBB4-CD19-41D3-B514-E679BB0D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C80"/>
                </a:solidFill>
                <a:latin typeface="Arial"/>
                <a:ea typeface="Arial"/>
                <a:cs typeface="Arial"/>
              </a:rPr>
              <a:t>Resultado: publicación, relaciones y auditoría confirmadas.</a:t>
            </a:r>
          </a:p>
        </p:txBody>
      </p:sp>
    </p:spTree>
    <p:extLst>
      <p:ext uri="{BB962C8B-B14F-4D97-AF65-F5344CB8AC3E}">
        <p14:creationId xmlns:p14="http://schemas.microsoft.com/office/powerpoint/2010/main" val="1903015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ransacción 2: alta de usuario">
            <a:extLst xmlns:a="http://schemas.openxmlformats.org/drawingml/2006/main">
              <a:ext uri="{FF2B5EF4-FFF2-40B4-BE49-F238E27FC236}">
                <a16:creationId xmlns:a16="http://schemas.microsoft.com/office/drawing/2014/main" id="{5EFDCB71-57DC-449F-803B-8DCEAE87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Transacción 2: alta de usuario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D9C2B1C0-4D54-440C-AEFE-3FACE551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69B5129-788B-4E4C-8F13-751C731F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Ingresar datos únicos y contraseña.">
            <a:extLst xmlns:a="http://schemas.openxmlformats.org/drawingml/2006/main">
              <a:ext uri="{FF2B5EF4-FFF2-40B4-BE49-F238E27FC236}">
                <a16:creationId xmlns:a16="http://schemas.microsoft.com/office/drawing/2014/main" id="{8B030551-88EE-48FD-A92C-12A2B517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Ingresar datos únicos y contraseña.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6903F34-55E6-426F-BADA-E11F593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Asignar un rol permitido.">
            <a:extLst xmlns:a="http://schemas.openxmlformats.org/drawingml/2006/main">
              <a:ext uri="{FF2B5EF4-FFF2-40B4-BE49-F238E27FC236}">
                <a16:creationId xmlns:a16="http://schemas.microsoft.com/office/drawing/2014/main" id="{63CB89EE-C8C8-4EFF-9A83-444B54C9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95575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Asignar un rol permitido.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FED1C116-DB94-4DDD-BA1A-98440B18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Guardar y verificar la cuenta.">
            <a:extLst xmlns:a="http://schemas.openxmlformats.org/drawingml/2006/main">
              <a:ext uri="{FF2B5EF4-FFF2-40B4-BE49-F238E27FC236}">
                <a16:creationId xmlns:a16="http://schemas.microsoft.com/office/drawing/2014/main" id="{CC3ADED4-6D5E-40D6-BBD5-13D8BA3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Guardar y verificar la cuenta.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5082915A-EC72-4FA3-9811-E0E55D5D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Revisar el evento de alta.">
            <a:extLst xmlns:a="http://schemas.openxmlformats.org/drawingml/2006/main">
              <a:ext uri="{FF2B5EF4-FFF2-40B4-BE49-F238E27FC236}">
                <a16:creationId xmlns:a16="http://schemas.microsoft.com/office/drawing/2014/main" id="{114FBB2F-E594-4FCB-A66E-4F61FC0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3943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Revisar el evento de alta.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DB02D-6AEA-4021-82D6-EF0AC8FAD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dfdb8661740b7"/>
          <a:stretch xmlns:a="http://schemas.openxmlformats.org/drawingml/2006/main"/>
        </p:blipFill>
        <p:spPr>
          <a:xfrm xmlns:a="http://schemas.openxmlformats.org/drawingml/2006/main">
            <a:off x="6457699" y="1619250"/>
            <a:ext cx="4181978" cy="4143375"/>
          </a:xfrm>
          <a:prstGeom xmlns:a="http://schemas.openxmlformats.org/drawingml/2006/main" prst="rect">
            <a:avLst/>
          </a:prstGeom>
        </p:spPr>
      </p:pic>
      <p:sp>
        <p:nvSpPr>
          <p:cNvPr id="12" name="Resultado: cuenta persistida y evento de auditoría">
            <a:extLst xmlns:a="http://schemas.openxmlformats.org/drawingml/2006/main">
              <a:ext uri="{FF2B5EF4-FFF2-40B4-BE49-F238E27FC236}">
                <a16:creationId xmlns:a16="http://schemas.microsoft.com/office/drawing/2014/main" id="{7A1B2E26-C16A-4D33-8DFE-129F128B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C80"/>
                </a:solidFill>
                <a:latin typeface="Arial"/>
                <a:ea typeface="Arial"/>
                <a:cs typeface="Arial"/>
              </a:rPr>
              <a:t>Resultado: cuenta persistida y evento de auditoría, sin exponer la contraseña.</a:t>
            </a:r>
          </a:p>
        </p:txBody>
      </p:sp>
    </p:spTree>
    <p:extLst>
      <p:ext uri="{BB962C8B-B14F-4D97-AF65-F5344CB8AC3E}">
        <p14:creationId xmlns:p14="http://schemas.microsoft.com/office/powerpoint/2010/main" val="1316325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portes de las dos transacciones">
            <a:extLst xmlns:a="http://schemas.openxmlformats.org/drawingml/2006/main">
              <a:ext uri="{FF2B5EF4-FFF2-40B4-BE49-F238E27FC236}">
                <a16:creationId xmlns:a16="http://schemas.microsoft.com/office/drawing/2014/main" id="{41E36E40-DC71-408C-980F-535898D1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Reportes de las dos transacciones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92ABC3F-4EE6-4E3E-8AEC-3D28BBB2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Publicación registrada">
            <a:extLst xmlns:a="http://schemas.openxmlformats.org/drawingml/2006/main">
              <a:ext uri="{FF2B5EF4-FFF2-40B4-BE49-F238E27FC236}">
                <a16:creationId xmlns:a16="http://schemas.microsoft.com/office/drawing/2014/main" id="{EF3D7A72-6D68-471A-8A64-0B1E0AC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Publicación registrada</a:t>
            </a:r>
          </a:p>
        </p:txBody>
      </p:sp>
      <p:sp>
        <p:nvSpPr>
          <p:cNvPr id="4" name="Código, metadatos y documento del trabajo.&#10;PDF y E">
            <a:extLst xmlns:a="http://schemas.openxmlformats.org/drawingml/2006/main">
              <a:ext uri="{FF2B5EF4-FFF2-40B4-BE49-F238E27FC236}">
                <a16:creationId xmlns:a16="http://schemas.microsoft.com/office/drawing/2014/main" id="{AC288608-C07B-4E33-A3CC-9FD856AF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Código, metadatos y documento del trabajo.</a:t>
            </a:r>
          </a:p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PDF y Excel desde Reportes.</a:t>
            </a:r>
          </a:p>
        </p:txBody>
      </p:sp>
      <p:sp>
        <p:nvSpPr>
          <p:cNvPr id="5" name="Alta de cuenta">
            <a:extLst xmlns:a="http://schemas.openxmlformats.org/drawingml/2006/main">
              <a:ext uri="{FF2B5EF4-FFF2-40B4-BE49-F238E27FC236}">
                <a16:creationId xmlns:a16="http://schemas.microsoft.com/office/drawing/2014/main" id="{5B07ED2F-0F3E-4308-AA48-8253139E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Alta de cuenta</a:t>
            </a:r>
          </a:p>
        </p:txBody>
      </p:sp>
      <p:sp>
        <p:nvSpPr>
          <p:cNvPr id="6" name="Actor, recurso, resultado y datos nuevos.&#10;PDF y Ex">
            <a:extLst xmlns:a="http://schemas.openxmlformats.org/drawingml/2006/main">
              <a:ext uri="{FF2B5EF4-FFF2-40B4-BE49-F238E27FC236}">
                <a16:creationId xmlns:a16="http://schemas.microsoft.com/office/drawing/2014/main" id="{69207AC0-19F2-477E-A0D6-57D4E03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Actor, recurso, resultado y datos nuevos.</a:t>
            </a:r>
          </a:p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PDF y Excel desde Auditoría, con filtro de operación.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00F57-2D86-4CCF-8C10-5D7952C8B500}"/>
              </a:ext>
            </a:extLst>
          </p:cNvPr>
          <p:cNvGraphicFramePr/>
          <p:nvPr/>
        </p:nvGraphicFramePr>
        <p:xfrm>
          <a:off xmlns:a="http://schemas.openxmlformats.org/drawingml/2006/main" x="609600" y="4286250"/>
          <a:ext xmlns:a="http://schemas.openxmlformats.org/drawingml/2006/main" cx="109537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24750"/>
              </a:tblGrid>
              <a:tr h="414338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Comprobación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D5C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Ambas exportaciones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D5C"/>
                    </a:solidFill>
                  </a:tcPr>
                </a:tc>
              </a:tr>
              <a:tr h="41433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Origen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API real y datos registrados.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Consistencia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Filtros y snapshot del conjunto consultado.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41433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Sin coincidencias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263D4B"/>
                          </a:solidFill>
                          <a:latin typeface="Arial"/>
                          <a:ea typeface="Arial"/>
                          <a:cs typeface="Arial"/>
                        </a:rPr>
                        <a:t>HTTP 200 y sin archivo.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731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alidaciones e integridad">
            <a:extLst xmlns:a="http://schemas.openxmlformats.org/drawingml/2006/main">
              <a:ext uri="{FF2B5EF4-FFF2-40B4-BE49-F238E27FC236}">
                <a16:creationId xmlns:a16="http://schemas.microsoft.com/office/drawing/2014/main" id="{FD2EED07-079E-481B-B28A-20FFA5A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Validaciones e integridad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A7DA6E83-7613-4623-8A40-6CC40B99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92123B92-E56E-48F0-BE9F-9E3E3C4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hazo de datos obligatorios incompletos y duplic">
            <a:extLst xmlns:a="http://schemas.openxmlformats.org/drawingml/2006/main">
              <a:ext uri="{FF2B5EF4-FFF2-40B4-BE49-F238E27FC236}">
                <a16:creationId xmlns:a16="http://schemas.microsoft.com/office/drawing/2014/main" id="{8E3F64E1-C12A-44D1-BA9E-606F5D7D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Rechazo de datos obligatorios incompletos y duplicados.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D3BD4526-01DA-4E9E-8109-B35742B5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ermisos efectivos comprobados por el servidor.">
            <a:extLst xmlns:a="http://schemas.openxmlformats.org/drawingml/2006/main">
              <a:ext uri="{FF2B5EF4-FFF2-40B4-BE49-F238E27FC236}">
                <a16:creationId xmlns:a16="http://schemas.microsoft.com/office/drawing/2014/main" id="{9CB64B46-6BFB-4C2A-9B4F-525D558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Permisos efectivos comprobados por el servidor.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07271251-A586-420A-A6F7-F463DE6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ransacciones, restricciones y control de versión.">
            <a:extLst xmlns:a="http://schemas.openxmlformats.org/drawingml/2006/main">
              <a:ext uri="{FF2B5EF4-FFF2-40B4-BE49-F238E27FC236}">
                <a16:creationId xmlns:a16="http://schemas.microsoft.com/office/drawing/2014/main" id="{CA7827E1-DBA1-4EF2-B18D-BBB59C5F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Transacciones, restricciones y control de versión.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F13140FD-C1BE-4BD7-B4CA-23175CA2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Auditoría obligatoria para confirmar los cambios.">
            <a:extLst xmlns:a="http://schemas.openxmlformats.org/drawingml/2006/main">
              <a:ext uri="{FF2B5EF4-FFF2-40B4-BE49-F238E27FC236}">
                <a16:creationId xmlns:a16="http://schemas.microsoft.com/office/drawing/2014/main" id="{D12C31DF-7ACB-4F77-B17B-1D2476D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Auditoría obligatoria para confirmar los cambios.</a:t>
            </a:r>
          </a:p>
        </p:txBody>
      </p:sp>
      <p:sp>
        <p:nvSpPr>
          <p:cNvPr id="11" name="395 pruebas aprobadas en las suites ejecutadas">
            <a:extLst xmlns:a="http://schemas.openxmlformats.org/drawingml/2006/main">
              <a:ext uri="{FF2B5EF4-FFF2-40B4-BE49-F238E27FC236}">
                <a16:creationId xmlns:a16="http://schemas.microsoft.com/office/drawing/2014/main" id="{77A07706-2D3C-4476-BE88-2DAF65E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395 pruebas aprobadas en las suites ejecutadas</a:t>
            </a:r>
          </a:p>
        </p:txBody>
      </p:sp>
    </p:spTree>
    <p:extLst>
      <p:ext uri="{BB962C8B-B14F-4D97-AF65-F5344CB8AC3E}">
        <p14:creationId xmlns:p14="http://schemas.microsoft.com/office/powerpoint/2010/main" val="13644997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up manual y restauración">
            <a:extLst xmlns:a="http://schemas.openxmlformats.org/drawingml/2006/main">
              <a:ext uri="{FF2B5EF4-FFF2-40B4-BE49-F238E27FC236}">
                <a16:creationId xmlns:a16="http://schemas.microsoft.com/office/drawing/2014/main" id="{0B57A727-2F50-4ED5-88C2-703B0980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Backup manual y restauración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A8E24C9F-63D8-4AAE-8FD4-F4E96BB9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4A74F1D-D0FE-4CA8-9271-40A2193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rear copia ahora o ejecutar el comando del perfil">
            <a:extLst xmlns:a="http://schemas.openxmlformats.org/drawingml/2006/main">
              <a:ext uri="{FF2B5EF4-FFF2-40B4-BE49-F238E27FC236}">
                <a16:creationId xmlns:a16="http://schemas.microsoft.com/office/drawing/2014/main" id="{9C862B4B-23E1-4229-B400-2001E2C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4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Crear copia ahora o ejecutar el comando del perfil.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1EB68D80-5AF9-4442-A61E-C6307B6B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Identificar el .dump y verificar su índice y SHA-2">
            <a:extLst xmlns:a="http://schemas.openxmlformats.org/drawingml/2006/main">
              <a:ext uri="{FF2B5EF4-FFF2-40B4-BE49-F238E27FC236}">
                <a16:creationId xmlns:a16="http://schemas.microsoft.com/office/drawing/2014/main" id="{2BB0807C-8587-4D40-A2F0-523634CB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24125"/>
            <a:ext cx="994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Identificar el .dump y verificar su índice y SHA-256.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0CBE08C0-FF64-4185-A064-3336A40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staurar en una base de prueba aislada.">
            <a:extLst xmlns:a="http://schemas.openxmlformats.org/drawingml/2006/main">
              <a:ext uri="{FF2B5EF4-FFF2-40B4-BE49-F238E27FC236}">
                <a16:creationId xmlns:a16="http://schemas.microsoft.com/office/drawing/2014/main" id="{0D459A6C-9327-47D2-ABA3-DF11B2AD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81375"/>
            <a:ext cx="994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Restaurar en una base de prueba aislada.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A2498883-D850-4B16-BD7F-2B8090DE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Comprobar datos, relaciones y archivos privados.">
            <a:extLst xmlns:a="http://schemas.openxmlformats.org/drawingml/2006/main">
              <a:ext uri="{FF2B5EF4-FFF2-40B4-BE49-F238E27FC236}">
                <a16:creationId xmlns:a16="http://schemas.microsoft.com/office/drawing/2014/main" id="{3D7AC4D9-C25C-45D4-AEED-DAD4BE4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38625"/>
            <a:ext cx="994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Comprobar datos, relaciones y archivos privados.</a:t>
            </a:r>
          </a:p>
        </p:txBody>
      </p:sp>
      <p:sp>
        <p:nvSpPr>
          <p:cNvPr id="11" name="Prueba: 3 cuentas, 8 publicaciones y 8 adjuntos ve">
            <a:extLst xmlns:a="http://schemas.openxmlformats.org/drawingml/2006/main">
              <a:ext uri="{FF2B5EF4-FFF2-40B4-BE49-F238E27FC236}">
                <a16:creationId xmlns:a16="http://schemas.microsoft.com/office/drawing/2014/main" id="{51D2117A-441A-4E89-8A3B-D263CF62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Prueba: 3 cuentas, 8 publicaciones y 8 adjuntos verificados</a:t>
            </a:r>
          </a:p>
        </p:txBody>
      </p:sp>
    </p:spTree>
    <p:extLst>
      <p:ext uri="{BB962C8B-B14F-4D97-AF65-F5344CB8AC3E}">
        <p14:creationId xmlns:p14="http://schemas.microsoft.com/office/powerpoint/2010/main" val="1198617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up automático en el servidor">
            <a:extLst xmlns:a="http://schemas.openxmlformats.org/drawingml/2006/main">
              <a:ext uri="{FF2B5EF4-FFF2-40B4-BE49-F238E27FC236}">
                <a16:creationId xmlns:a16="http://schemas.microsoft.com/office/drawing/2014/main" id="{D80AD6A1-0E7C-4806-9FCE-2EEE4BE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Backup automático en el servidor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739C05F9-3C75-4C9F-BB3E-4114FF0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area diaria de Windows a las 02:00">
            <a:extLst xmlns:a="http://schemas.openxmlformats.org/drawingml/2006/main">
              <a:ext uri="{FF2B5EF4-FFF2-40B4-BE49-F238E27FC236}">
                <a16:creationId xmlns:a16="http://schemas.microsoft.com/office/drawing/2014/main" id="{EB8032D6-0C66-400E-8157-CE9B059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Tarea diaria de Windows a las 02:00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1D2F874-EB42-4DC7-932C-6AB9549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cción del perfil demo y disparador diario verific">
            <a:extLst xmlns:a="http://schemas.openxmlformats.org/drawingml/2006/main">
              <a:ext uri="{FF2B5EF4-FFF2-40B4-BE49-F238E27FC236}">
                <a16:creationId xmlns:a16="http://schemas.microsoft.com/office/drawing/2014/main" id="{35532ABD-A538-4D97-B90C-1D6FC7E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Acción del perfil demo y disparador diario verificados.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708C6E0C-39CD-402F-8481-3790F4F5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Última ejecución del Programador: salida 0.">
            <a:extLst xmlns:a="http://schemas.openxmlformats.org/drawingml/2006/main">
              <a:ext uri="{FF2B5EF4-FFF2-40B4-BE49-F238E27FC236}">
                <a16:creationId xmlns:a16="http://schemas.microsoft.com/office/drawing/2014/main" id="{F2BA43F6-17D4-4EE4-AABD-96BA53D5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71875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Última ejecución del Programador: salida 0.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8ECB98D5-B8B6-439B-8837-B2AD0E5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Copia programada incluida con fecha, tamaño y hash">
            <a:extLst xmlns:a="http://schemas.openxmlformats.org/drawingml/2006/main">
              <a:ext uri="{FF2B5EF4-FFF2-40B4-BE49-F238E27FC236}">
                <a16:creationId xmlns:a16="http://schemas.microsoft.com/office/drawing/2014/main" id="{B20DA157-34EF-42A6-853F-F0D8953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Copia programada incluida con fecha, tamaño y hash.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63D5EF51-AC13-420E-8762-2C2B1700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PostgreSQL debe estar disponible a la hora previst">
            <a:extLst xmlns:a="http://schemas.openxmlformats.org/drawingml/2006/main">
              <a:ext uri="{FF2B5EF4-FFF2-40B4-BE49-F238E27FC236}">
                <a16:creationId xmlns:a16="http://schemas.microsoft.com/office/drawing/2014/main" id="{A5621A2C-2E52-472C-89F3-632C959E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00625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PostgreSQL debe estar disponible a la hora prevista.</a:t>
            </a:r>
          </a:p>
        </p:txBody>
      </p:sp>
      <p:sp>
        <p:nvSpPr>
          <p:cNvPr id="12" name="El historial recuperado y el resultado del Program">
            <a:extLst xmlns:a="http://schemas.openxmlformats.org/drawingml/2006/main">
              <a:ext uri="{FF2B5EF4-FFF2-40B4-BE49-F238E27FC236}">
                <a16:creationId xmlns:a16="http://schemas.microsoft.com/office/drawing/2014/main" id="{4C1C815B-4083-47DA-9EF3-4D67C279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El historial recuperado y el resultado del Programador son evidencias distintas.</a:t>
            </a:r>
          </a:p>
        </p:txBody>
      </p:sp>
    </p:spTree>
    <p:extLst>
      <p:ext uri="{BB962C8B-B14F-4D97-AF65-F5344CB8AC3E}">
        <p14:creationId xmlns:p14="http://schemas.microsoft.com/office/powerpoint/2010/main" val="13550867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up en la nube">
            <a:extLst xmlns:a="http://schemas.openxmlformats.org/drawingml/2006/main">
              <a:ext uri="{FF2B5EF4-FFF2-40B4-BE49-F238E27FC236}">
                <a16:creationId xmlns:a16="http://schemas.microsoft.com/office/drawing/2014/main" id="{6890E759-436E-494E-92DF-BEA42B2F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Backup en la nube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E4170A4D-569D-49F9-A6A1-001C4DE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Google Drive con acceso restringido">
            <a:extLst xmlns:a="http://schemas.openxmlformats.org/drawingml/2006/main">
              <a:ext uri="{FF2B5EF4-FFF2-40B4-BE49-F238E27FC236}">
                <a16:creationId xmlns:a16="http://schemas.microsoft.com/office/drawing/2014/main" id="{24AE8688-B7A3-4EE4-97BE-78C36B7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Google Drive con acceso restringido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CC42449C-64B3-4365-B2E3-451672C2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Descarga real de la copia demo ya autorizada.">
            <a:extLst xmlns:a="http://schemas.openxmlformats.org/drawingml/2006/main">
              <a:ext uri="{FF2B5EF4-FFF2-40B4-BE49-F238E27FC236}">
                <a16:creationId xmlns:a16="http://schemas.microsoft.com/office/drawing/2014/main" id="{119F0E04-18A1-424E-A3A9-E7C59607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Descarga real de la copia demo ya autorizada.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C0B2D6B3-D03D-4131-A79F-3C9A38C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Permiso de propietario y sin acceso público.">
            <a:extLst xmlns:a="http://schemas.openxmlformats.org/drawingml/2006/main">
              <a:ext uri="{FF2B5EF4-FFF2-40B4-BE49-F238E27FC236}">
                <a16:creationId xmlns:a16="http://schemas.microsoft.com/office/drawing/2014/main" id="{3B529C91-6FF3-4473-9939-EC0EB2B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71875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Permiso de propietario y sin acceso público.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772EAD03-9F44-46CB-A64E-66550B42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93.829 bytes con SHA-256 coincidente.">
            <a:extLst xmlns:a="http://schemas.openxmlformats.org/drawingml/2006/main">
              <a:ext uri="{FF2B5EF4-FFF2-40B4-BE49-F238E27FC236}">
                <a16:creationId xmlns:a16="http://schemas.microsoft.com/office/drawing/2014/main" id="{2C7B404B-9DE2-4729-9400-58E5D2E9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93.829 bytes con SHA-256 coincidente.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80743493-220E-4617-BB05-642D85A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La misma copia se restauró en PostgreSQL de prueba">
            <a:extLst xmlns:a="http://schemas.openxmlformats.org/drawingml/2006/main">
              <a:ext uri="{FF2B5EF4-FFF2-40B4-BE49-F238E27FC236}">
                <a16:creationId xmlns:a16="http://schemas.microsoft.com/office/drawing/2014/main" id="{7B645199-2737-48DD-BFC0-FC7E6FC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00625"/>
            <a:ext cx="994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La misma copia se restauró en PostgreSQL de prueba.</a:t>
            </a:r>
          </a:p>
        </p:txBody>
      </p:sp>
      <p:sp>
        <p:nvSpPr>
          <p:cNvPr id="12" name="Los PDF privados se respaldan por separado y se in">
            <a:extLst xmlns:a="http://schemas.openxmlformats.org/drawingml/2006/main">
              <a:ext uri="{FF2B5EF4-FFF2-40B4-BE49-F238E27FC236}">
                <a16:creationId xmlns:a16="http://schemas.microsoft.com/office/drawing/2014/main" id="{A09FB8F7-E3BE-4313-A7BC-4A6C9EF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Los PDF privados se respaldan por separado y se incluyen en el paquete.</a:t>
            </a:r>
          </a:p>
        </p:txBody>
      </p:sp>
    </p:spTree>
    <p:extLst>
      <p:ext uri="{BB962C8B-B14F-4D97-AF65-F5344CB8AC3E}">
        <p14:creationId xmlns:p14="http://schemas.microsoft.com/office/powerpoint/2010/main" val="13542165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ertura y material de entrega">
            <a:extLst xmlns:a="http://schemas.openxmlformats.org/drawingml/2006/main">
              <a:ext uri="{FF2B5EF4-FFF2-40B4-BE49-F238E27FC236}">
                <a16:creationId xmlns:a16="http://schemas.microsoft.com/office/drawing/2014/main" id="{EC5AE37E-A553-4921-9EC8-4FB8F51B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Apertura y material de entrega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C713BCF5-B436-450E-8249-E2433307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DA2C48B-3A8D-4426-9A37-F4981C0A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Extraer el código y abrir una terminal en su raíz.">
            <a:extLst xmlns:a="http://schemas.openxmlformats.org/drawingml/2006/main">
              <a:ext uri="{FF2B5EF4-FFF2-40B4-BE49-F238E27FC236}">
                <a16:creationId xmlns:a16="http://schemas.microsoft.com/office/drawing/2014/main" id="{6B53BD26-4D76-4897-9871-2E6637D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Extraer el código y abrir una terminal en su raíz.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58A449AB-8F94-4AD7-AC1A-FD6F66BA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Ejecutar npm run start:demo y abrir la dirección i">
            <a:extLst xmlns:a="http://schemas.openxmlformats.org/drawingml/2006/main">
              <a:ext uri="{FF2B5EF4-FFF2-40B4-BE49-F238E27FC236}">
                <a16:creationId xmlns:a16="http://schemas.microsoft.com/office/drawing/2014/main" id="{290B1BA9-9F0A-4DFC-9037-1E25A801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19375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Ejecutar npm run start:demo y abrir la dirección informada.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1E55F5E8-913E-401B-96A0-48FA5FFE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Usar las cuentas del documento de accesos.">
            <a:extLst xmlns:a="http://schemas.openxmlformats.org/drawingml/2006/main">
              <a:ext uri="{FF2B5EF4-FFF2-40B4-BE49-F238E27FC236}">
                <a16:creationId xmlns:a16="http://schemas.microsoft.com/office/drawing/2014/main" id="{8F94AA6D-562E-4C81-ACE9-5A4E9443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Usar las cuentas del documento de accesos.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242150F0-1636-41B7-96B7-A35E51D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Demostrar ambos procesos, sus reportes y las copia">
            <a:extLst xmlns:a="http://schemas.openxmlformats.org/drawingml/2006/main">
              <a:ext uri="{FF2B5EF4-FFF2-40B4-BE49-F238E27FC236}">
                <a16:creationId xmlns:a16="http://schemas.microsoft.com/office/drawing/2014/main" id="{E0603C00-67CB-4D51-AE48-6D044E0D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29125"/>
            <a:ext cx="994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Demostrar ambos procesos, sus reportes y las copias.</a:t>
            </a:r>
          </a:p>
        </p:txBody>
      </p:sp>
      <p:sp>
        <p:nvSpPr>
          <p:cNvPr id="11" name="Producción requiere configuración y credenciales i">
            <a:extLst xmlns:a="http://schemas.openxmlformats.org/drawingml/2006/main">
              <a:ext uri="{FF2B5EF4-FFF2-40B4-BE49-F238E27FC236}">
                <a16:creationId xmlns:a16="http://schemas.microsoft.com/office/drawing/2014/main" id="{D00BE2B4-1B47-4D3D-848F-F92D96BB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Producción requiere configuración y credenciales institucionales propias.</a:t>
            </a:r>
          </a:p>
        </p:txBody>
      </p:sp>
    </p:spTree>
    <p:extLst>
      <p:ext uri="{BB962C8B-B14F-4D97-AF65-F5344CB8AC3E}">
        <p14:creationId xmlns:p14="http://schemas.microsoft.com/office/powerpoint/2010/main" val="12322474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ado y preparación para la defensa">
            <a:extLst xmlns:a="http://schemas.openxmlformats.org/drawingml/2006/main">
              <a:ext uri="{FF2B5EF4-FFF2-40B4-BE49-F238E27FC236}">
                <a16:creationId xmlns:a16="http://schemas.microsoft.com/office/drawing/2014/main" id="{9C257D28-A9AE-469C-936B-BB95B0E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Resultado y preparación para la defensa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D819E8C4-3207-4E8F-A96E-B7D499D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Catálogo bibliográfico con acceso controlado, repo">
            <a:extLst xmlns:a="http://schemas.openxmlformats.org/drawingml/2006/main">
              <a:ext uri="{FF2B5EF4-FFF2-40B4-BE49-F238E27FC236}">
                <a16:creationId xmlns:a16="http://schemas.microsoft.com/office/drawing/2014/main" id="{627567B0-14C2-415A-BAA1-6E275E23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D5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D5C"/>
                </a:solidFill>
                <a:latin typeface="Arial"/>
                <a:ea typeface="Arial"/>
                <a:cs typeface="Arial"/>
              </a:rPr>
              <a:t>Catálogo bibliográfico con acceso controlado, reportes, trazabilidad y recuperación.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FDA319E5-8C5A-4E63-8C34-9434C76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Dos transacciones y sus reportes listos para demos">
            <a:extLst xmlns:a="http://schemas.openxmlformats.org/drawingml/2006/main">
              <a:ext uri="{FF2B5EF4-FFF2-40B4-BE49-F238E27FC236}">
                <a16:creationId xmlns:a16="http://schemas.microsoft.com/office/drawing/2014/main" id="{C13656C5-0269-4325-BC2B-4FB127B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9944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Dos transacciones y sus reportes listos para demostrar.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2BBE0C81-E223-48BE-B800-3DF1E51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Copias verificadas y restauración de prueba docume">
            <a:extLst xmlns:a="http://schemas.openxmlformats.org/drawingml/2006/main">
              <a:ext uri="{FF2B5EF4-FFF2-40B4-BE49-F238E27FC236}">
                <a16:creationId xmlns:a16="http://schemas.microsoft.com/office/drawing/2014/main" id="{4C9E1D46-0697-4CFD-91F8-357A63B8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9944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Copias verificadas y restauración de prueba documentada.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EE291C41-5B23-4BD0-ACB7-302884C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Gantt, manuales, accesos y código incluidos.">
            <a:extLst xmlns:a="http://schemas.openxmlformats.org/drawingml/2006/main">
              <a:ext uri="{FF2B5EF4-FFF2-40B4-BE49-F238E27FC236}">
                <a16:creationId xmlns:a16="http://schemas.microsoft.com/office/drawing/2014/main" id="{C8BA3A5A-6A0D-43B5-B4E7-21005D2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95900"/>
            <a:ext cx="9944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D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B"/>
                </a:solidFill>
                <a:latin typeface="Arial"/>
                <a:ea typeface="Arial"/>
                <a:cs typeface="Arial"/>
              </a:rPr>
              <a:t>Gantt, manuales, accesos y código incluidos.</a:t>
            </a:r>
          </a:p>
        </p:txBody>
      </p:sp>
    </p:spTree>
    <p:extLst>
      <p:ext uri="{BB962C8B-B14F-4D97-AF65-F5344CB8AC3E}">
        <p14:creationId xmlns:p14="http://schemas.microsoft.com/office/powerpoint/2010/main" val="282413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2026-10-28T07:39:53.2910000Z</dcterms:created>
  <dcterms:modified xsi:type="dcterms:W3CDTF">2026-10-28T07:39:53.2910000Z</dcterms:modified>
</coreProperties>
</file>